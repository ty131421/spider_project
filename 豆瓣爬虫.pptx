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329" r:id="rId7"/>
    <p:sldId id="300" r:id="rId8"/>
    <p:sldId id="330" r:id="rId9"/>
    <p:sldId id="314" r:id="rId10"/>
    <p:sldId id="306" r:id="rId11"/>
    <p:sldId id="331" r:id="rId12"/>
    <p:sldId id="332" r:id="rId13"/>
    <p:sldId id="333" r:id="rId14"/>
    <p:sldId id="322" r:id="rId15"/>
    <p:sldId id="302" r:id="rId16"/>
    <p:sldId id="334" r:id="rId17"/>
    <p:sldId id="335" r:id="rId18"/>
    <p:sldId id="336" r:id="rId19"/>
    <p:sldId id="324" r:id="rId20"/>
    <p:sldId id="323" r:id="rId21"/>
    <p:sldId id="337" r:id="rId22"/>
    <p:sldId id="327" r:id="rId23"/>
    <p:sldId id="328" r:id="rId24"/>
    <p:sldId id="297" r:id="rId25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245AE6-67BB-4405-8C85-560DCE77FCB8}" styleName="表样式 1 25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TxStyle>
        <a:fontRef idx="none">
          <a:srgbClr val="08090C"/>
        </a:fontRef>
      </a:tcTxStyle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FFFFFF"/>
              </a:solidFill>
              <a:prstDash val="solid"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  <a:tblStyle styleId="{F8C1D441-2292-4423-9868-42F7509B36EC}" styleName="表样式 1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12700" cmpd="sng">
              <a:solidFill>
                <a:schemeClr val="accent1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  <a:fill>
          <a:solidFill>
            <a:schemeClr val="accent1">
              <a:lumMod val="20000"/>
              <a:lumOff val="8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lumMod val="20000"/>
              <a:lumOff val="8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12700" cmpd="sng">
              <a:solidFill>
                <a:schemeClr val="accent1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12700" cmpd="sng">
              <a:solidFill>
                <a:schemeClr val="accent1"/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222" y="150"/>
      </p:cViewPr>
      <p:guideLst>
        <p:guide orient="horz" pos="2172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8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CFE7D-8F55-4EE8-8149-5D8520A0AAC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8782A-40BF-4B90-AD78-793C065210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0C8795-E1E0-49C7-9A53-0E7622B663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0C8795-E1E0-49C7-9A53-0E7622B663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0C8795-E1E0-49C7-9A53-0E7622B663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AE957F4-C668-4BE6-9682-0EA15B621BE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A0C8795-E1E0-49C7-9A53-0E7622B6636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8397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952" y="3439887"/>
            <a:ext cx="4231533" cy="48856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285" y="2098781"/>
            <a:ext cx="6258560" cy="1310327"/>
          </a:xfrm>
        </p:spPr>
        <p:txBody>
          <a:bodyPr anchor="b">
            <a:noAutofit/>
          </a:bodyPr>
          <a:lstStyle>
            <a:lvl1pPr algn="ctr">
              <a:lnSpc>
                <a:spcPct val="80000"/>
              </a:lnSpc>
              <a:defRPr sz="4080" b="0" i="0">
                <a:gradFill flip="none" rotWithShape="1">
                  <a:gsLst>
                    <a:gs pos="0">
                      <a:srgbClr val="ED3E43"/>
                    </a:gs>
                    <a:gs pos="50000">
                      <a:schemeClr val="accent1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75000"/>
                        <a:shade val="100000"/>
                        <a:satMod val="1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7878" y="3468466"/>
            <a:ext cx="4075609" cy="42336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80">
                <a:solidFill>
                  <a:schemeClr val="accent2">
                    <a:lumMod val="50000"/>
                  </a:schemeClr>
                </a:solidFill>
              </a:defRPr>
            </a:lvl1pPr>
            <a:lvl2pPr marL="427990" indent="0" algn="ctr">
              <a:buNone/>
              <a:defRPr sz="1920"/>
            </a:lvl2pPr>
            <a:lvl3pPr marL="855980" indent="0" algn="ctr">
              <a:buNone/>
              <a:defRPr sz="1680"/>
            </a:lvl3pPr>
            <a:lvl4pPr marL="1283970" indent="0" algn="ctr">
              <a:buNone/>
              <a:defRPr sz="1440"/>
            </a:lvl4pPr>
            <a:lvl5pPr marL="1711960" indent="0" algn="ctr">
              <a:buNone/>
              <a:defRPr sz="1440"/>
            </a:lvl5pPr>
            <a:lvl6pPr marL="2139950" indent="0" algn="ctr">
              <a:buNone/>
              <a:defRPr sz="1440"/>
            </a:lvl6pPr>
            <a:lvl7pPr marL="2567305" indent="0" algn="ctr">
              <a:buNone/>
              <a:defRPr sz="1440"/>
            </a:lvl7pPr>
            <a:lvl8pPr marL="2995295" indent="0" algn="ctr">
              <a:buNone/>
              <a:defRPr sz="1440"/>
            </a:lvl8pPr>
            <a:lvl9pPr marL="3423285" indent="0" algn="ctr">
              <a:buNone/>
              <a:defRPr sz="14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786745"/>
            <a:ext cx="10515600" cy="1070339"/>
          </a:xfrm>
        </p:spPr>
        <p:txBody>
          <a:bodyPr anchor="b"/>
          <a:lstStyle>
            <a:lvl1pPr>
              <a:defRPr sz="444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884070"/>
            <a:ext cx="10515600" cy="611731"/>
          </a:xfrm>
        </p:spPr>
        <p:txBody>
          <a:bodyPr/>
          <a:lstStyle>
            <a:lvl1pPr marL="0" indent="0">
              <a:buNone/>
              <a:defRPr sz="2280">
                <a:solidFill>
                  <a:schemeClr val="accent2"/>
                </a:solidFill>
              </a:defRPr>
            </a:lvl1pPr>
            <a:lvl2pPr marL="42799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2pPr>
            <a:lvl3pPr marL="8559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28397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7119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13995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56730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99529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423285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27990" indent="0">
              <a:buNone/>
              <a:defRPr sz="1920" b="1"/>
            </a:lvl2pPr>
            <a:lvl3pPr marL="855980" indent="0">
              <a:buNone/>
              <a:defRPr sz="1680" b="1"/>
            </a:lvl3pPr>
            <a:lvl4pPr marL="1283970" indent="0">
              <a:buNone/>
              <a:defRPr sz="1440" b="1"/>
            </a:lvl4pPr>
            <a:lvl5pPr marL="1711960" indent="0">
              <a:buNone/>
              <a:defRPr sz="1440" b="1"/>
            </a:lvl5pPr>
            <a:lvl6pPr marL="2139950" indent="0">
              <a:buNone/>
              <a:defRPr sz="1440" b="1"/>
            </a:lvl6pPr>
            <a:lvl7pPr marL="2567305" indent="0">
              <a:buNone/>
              <a:defRPr sz="1440" b="1"/>
            </a:lvl7pPr>
            <a:lvl8pPr marL="2995295" indent="0">
              <a:buNone/>
              <a:defRPr sz="1440" b="1"/>
            </a:lvl8pPr>
            <a:lvl9pPr marL="3423285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280" b="1"/>
            </a:lvl1pPr>
            <a:lvl2pPr marL="427990" indent="0">
              <a:buNone/>
              <a:defRPr sz="1920" b="1"/>
            </a:lvl2pPr>
            <a:lvl3pPr marL="855980" indent="0">
              <a:buNone/>
              <a:defRPr sz="1680" b="1"/>
            </a:lvl3pPr>
            <a:lvl4pPr marL="1283970" indent="0">
              <a:buNone/>
              <a:defRPr sz="1440" b="1"/>
            </a:lvl4pPr>
            <a:lvl5pPr marL="1711960" indent="0">
              <a:buNone/>
              <a:defRPr sz="1440" b="1"/>
            </a:lvl5pPr>
            <a:lvl6pPr marL="2139950" indent="0">
              <a:buNone/>
              <a:defRPr sz="1440" b="1"/>
            </a:lvl6pPr>
            <a:lvl7pPr marL="2567305" indent="0">
              <a:buNone/>
              <a:defRPr sz="1440" b="1"/>
            </a:lvl7pPr>
            <a:lvl8pPr marL="2995295" indent="0">
              <a:buNone/>
              <a:defRPr sz="1440" b="1"/>
            </a:lvl8pPr>
            <a:lvl9pPr marL="3423285" indent="0">
              <a:buNone/>
              <a:defRPr sz="144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000"/>
            </a:lvl1pPr>
            <a:lvl2pPr>
              <a:defRPr sz="2640"/>
            </a:lvl2pPr>
            <a:lvl3pPr>
              <a:defRPr sz="228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27990" indent="0">
              <a:buNone/>
              <a:defRPr sz="1320"/>
            </a:lvl2pPr>
            <a:lvl3pPr marL="855980" indent="0">
              <a:buNone/>
              <a:defRPr sz="1080"/>
            </a:lvl3pPr>
            <a:lvl4pPr marL="1283970" indent="0">
              <a:buNone/>
              <a:defRPr sz="960"/>
            </a:lvl4pPr>
            <a:lvl5pPr marL="1711960" indent="0">
              <a:buNone/>
              <a:defRPr sz="960"/>
            </a:lvl5pPr>
            <a:lvl6pPr marL="2139950" indent="0">
              <a:buNone/>
              <a:defRPr sz="960"/>
            </a:lvl6pPr>
            <a:lvl7pPr marL="2567305" indent="0">
              <a:buNone/>
              <a:defRPr sz="960"/>
            </a:lvl7pPr>
            <a:lvl8pPr marL="2995295" indent="0">
              <a:buNone/>
              <a:defRPr sz="960"/>
            </a:lvl8pPr>
            <a:lvl9pPr marL="3423285" indent="0">
              <a:buNone/>
              <a:defRPr sz="9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000"/>
            </a:lvl1pPr>
            <a:lvl2pPr marL="427990" indent="0">
              <a:buNone/>
              <a:defRPr sz="2640"/>
            </a:lvl2pPr>
            <a:lvl3pPr marL="855980" indent="0">
              <a:buNone/>
              <a:defRPr sz="2280"/>
            </a:lvl3pPr>
            <a:lvl4pPr marL="1283970" indent="0">
              <a:buNone/>
              <a:defRPr sz="1920"/>
            </a:lvl4pPr>
            <a:lvl5pPr marL="1711960" indent="0">
              <a:buNone/>
              <a:defRPr sz="1920"/>
            </a:lvl5pPr>
            <a:lvl6pPr marL="2139950" indent="0">
              <a:buNone/>
              <a:defRPr sz="1920"/>
            </a:lvl6pPr>
            <a:lvl7pPr marL="2567305" indent="0">
              <a:buNone/>
              <a:defRPr sz="1920"/>
            </a:lvl7pPr>
            <a:lvl8pPr marL="2995295" indent="0">
              <a:buNone/>
              <a:defRPr sz="1920"/>
            </a:lvl8pPr>
            <a:lvl9pPr marL="3423285" indent="0">
              <a:buNone/>
              <a:defRPr sz="19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27990" indent="0">
              <a:buNone/>
              <a:defRPr sz="1320"/>
            </a:lvl2pPr>
            <a:lvl3pPr marL="855980" indent="0">
              <a:buNone/>
              <a:defRPr sz="1080"/>
            </a:lvl3pPr>
            <a:lvl4pPr marL="1283970" indent="0">
              <a:buNone/>
              <a:defRPr sz="960"/>
            </a:lvl4pPr>
            <a:lvl5pPr marL="1711960" indent="0">
              <a:buNone/>
              <a:defRPr sz="960"/>
            </a:lvl5pPr>
            <a:lvl6pPr marL="2139950" indent="0">
              <a:buNone/>
              <a:defRPr sz="960"/>
            </a:lvl6pPr>
            <a:lvl7pPr marL="2567305" indent="0">
              <a:buNone/>
              <a:defRPr sz="960"/>
            </a:lvl7pPr>
            <a:lvl8pPr marL="2995295" indent="0">
              <a:buNone/>
              <a:defRPr sz="960"/>
            </a:lvl8pPr>
            <a:lvl9pPr marL="3423285" indent="0">
              <a:buNone/>
              <a:defRPr sz="9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9" Type="http://schemas.openxmlformats.org/officeDocument/2006/relationships/image" Target="../media/image4.png"/><Relationship Id="rId48" Type="http://schemas.openxmlformats.org/officeDocument/2006/relationships/image" Target="../media/image3.jpeg"/><Relationship Id="rId47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15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4B59F-3D32-4799-9C43-690FA611DB0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CBA52-F395-404E-9003-5F6E4E9DDB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83971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881" y="1467059"/>
            <a:ext cx="11187611" cy="5133407"/>
          </a:xfrm>
          <a:prstGeom prst="rect">
            <a:avLst/>
          </a:prstGeom>
        </p:spPr>
        <p:txBody>
          <a:bodyPr vert="horz" lIns="71323" tIns="35662" rIns="71323" bIns="35662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71323" tIns="35662" rIns="71323" bIns="35662" rtlCol="0" anchor="ctr"/>
          <a:lstStyle>
            <a:lvl1pPr algn="l">
              <a:defRPr sz="108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3D0CE79-49FB-443D-BEF8-6B709DE8FD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71323" tIns="35662" rIns="71323" bIns="35662" rtlCol="0" anchor="ctr"/>
          <a:lstStyle>
            <a:lvl1pPr algn="ctr">
              <a:defRPr sz="108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71323" tIns="35662" rIns="71323" bIns="35662" rtlCol="0" anchor="ctr"/>
          <a:lstStyle>
            <a:lvl1pPr algn="r">
              <a:defRPr sz="108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EF906490-237C-474C-BA2E-D98840BC1F8F}" type="slidenum">
              <a:rPr lang="zh-CN" altLang="en-US" smtClean="0"/>
            </a:fld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1881" y="491002"/>
            <a:ext cx="11187611" cy="596119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" y="0"/>
            <a:ext cx="12191239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txStyles>
    <p:titleStyle>
      <a:lvl1pPr algn="l" defTabSz="855980" rtl="0" eaLnBrk="1" latinLnBrk="0" hangingPunct="1">
        <a:lnSpc>
          <a:spcPct val="90000"/>
        </a:lnSpc>
        <a:spcBef>
          <a:spcPct val="0"/>
        </a:spcBef>
        <a:buNone/>
        <a:defRPr sz="3360" kern="1200">
          <a:solidFill>
            <a:schemeClr val="accent1">
              <a:lumMod val="75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34010" indent="-334010" algn="l" defTabSz="855980" rtl="0" eaLnBrk="1" latinLnBrk="0" hangingPunct="1">
        <a:lnSpc>
          <a:spcPct val="90000"/>
        </a:lnSpc>
        <a:spcBef>
          <a:spcPts val="1685"/>
        </a:spcBef>
        <a:buClr>
          <a:schemeClr val="accent1">
            <a:lumMod val="60000"/>
            <a:lumOff val="40000"/>
          </a:schemeClr>
        </a:buClr>
        <a:buSzPct val="80000"/>
        <a:buFont typeface="Wingdings" panose="05000000000000000000" pitchFamily="2" charset="2"/>
        <a:buChar char="v"/>
        <a:defRPr sz="228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1pPr>
      <a:lvl2pPr marL="334010" indent="-334010" algn="l" defTabSz="855980" rtl="0" eaLnBrk="1" latinLnBrk="0" hangingPunct="1">
        <a:lnSpc>
          <a:spcPct val="130000"/>
        </a:lnSpc>
        <a:spcBef>
          <a:spcPts val="0"/>
        </a:spcBef>
        <a:buFont typeface="Calibri" panose="020F0502020204030204" pitchFamily="34" charset="0"/>
        <a:buChar char=" 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1069975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92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497965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925955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35331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78130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320929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637280" indent="-213995" algn="l" defTabSz="85598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799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598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397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1196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9950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7305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95295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23285" algn="l" defTabSz="855980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5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4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5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24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4" Type="http://schemas.openxmlformats.org/officeDocument/2006/relationships/slideLayout" Target="../slideLayouts/slideLayout17.xml"/><Relationship Id="rId33" Type="http://schemas.openxmlformats.org/officeDocument/2006/relationships/tags" Target="../tags/tag62.xml"/><Relationship Id="rId32" Type="http://schemas.openxmlformats.org/officeDocument/2006/relationships/image" Target="../media/image7.png"/><Relationship Id="rId31" Type="http://schemas.openxmlformats.org/officeDocument/2006/relationships/tags" Target="../tags/tag61.xml"/><Relationship Id="rId30" Type="http://schemas.openxmlformats.org/officeDocument/2006/relationships/tags" Target="../tags/tag60.xml"/><Relationship Id="rId3" Type="http://schemas.openxmlformats.org/officeDocument/2006/relationships/tags" Target="../tags/tag33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3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tags" Target="../tags/tag64.xml"/><Relationship Id="rId3" Type="http://schemas.openxmlformats.org/officeDocument/2006/relationships/image" Target="../media/image8.png"/><Relationship Id="rId2" Type="http://schemas.openxmlformats.org/officeDocument/2006/relationships/tags" Target="../tags/tag6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tags" Target="../tags/tag66.xml"/><Relationship Id="rId3" Type="http://schemas.openxmlformats.org/officeDocument/2006/relationships/image" Target="../media/image11.png"/><Relationship Id="rId2" Type="http://schemas.openxmlformats.org/officeDocument/2006/relationships/tags" Target="../tags/tag65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3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tags" Target="../tags/tag67.xml"/><Relationship Id="rId2" Type="http://schemas.openxmlformats.org/officeDocument/2006/relationships/image" Target="../media/image7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38.xml"/><Relationship Id="rId6" Type="http://schemas.openxmlformats.org/officeDocument/2006/relationships/tags" Target="../tags/tag70.xml"/><Relationship Id="rId5" Type="http://schemas.openxmlformats.org/officeDocument/2006/relationships/image" Target="../media/image26.png"/><Relationship Id="rId4" Type="http://schemas.openxmlformats.org/officeDocument/2006/relationships/tags" Target="../tags/tag69.xml"/><Relationship Id="rId3" Type="http://schemas.openxmlformats.org/officeDocument/2006/relationships/image" Target="../media/image25.png"/><Relationship Id="rId2" Type="http://schemas.openxmlformats.org/officeDocument/2006/relationships/tags" Target="../tags/tag68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8.xml"/><Relationship Id="rId5" Type="http://schemas.openxmlformats.org/officeDocument/2006/relationships/image" Target="../media/image28.png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image" Target="../media/image27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8.xml"/><Relationship Id="rId4" Type="http://schemas.openxmlformats.org/officeDocument/2006/relationships/tags" Target="../tags/tag74.xml"/><Relationship Id="rId3" Type="http://schemas.openxmlformats.org/officeDocument/2006/relationships/image" Target="../media/image29.png"/><Relationship Id="rId2" Type="http://schemas.openxmlformats.org/officeDocument/2006/relationships/tags" Target="../tags/tag73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tags" Target="../tags/tag76.xml"/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tags" Target="../tags/tag7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38.xml"/><Relationship Id="rId5" Type="http://schemas.openxmlformats.org/officeDocument/2006/relationships/tags" Target="../tags/tag78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tags" Target="../tags/tag77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8.xml"/><Relationship Id="rId4" Type="http://schemas.openxmlformats.org/officeDocument/2006/relationships/image" Target="../media/image35.png"/><Relationship Id="rId3" Type="http://schemas.openxmlformats.org/officeDocument/2006/relationships/tags" Target="../tags/tag80.xml"/><Relationship Id="rId2" Type="http://schemas.openxmlformats.org/officeDocument/2006/relationships/image" Target="../media/image7.png"/><Relationship Id="rId1" Type="http://schemas.openxmlformats.org/officeDocument/2006/relationships/tags" Target="../tags/tag7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44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8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697852"/>
            <a:ext cx="12207240" cy="41601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zh-CN" altLang="en-US" sz="2160" dirty="0">
              <a:solidFill>
                <a:prstClr val="white"/>
              </a:solidFill>
              <a:latin typeface="Calibri" panose="020F0502020204030204"/>
              <a:ea typeface="幼圆" panose="02010509060101010101" charset="-122"/>
            </a:endParaRPr>
          </a:p>
        </p:txBody>
      </p:sp>
      <p:sp>
        <p:nvSpPr>
          <p:cNvPr id="5" name="文本框 6"/>
          <p:cNvSpPr>
            <a:spLocks noChangeArrowheads="1"/>
          </p:cNvSpPr>
          <p:nvPr/>
        </p:nvSpPr>
        <p:spPr bwMode="auto">
          <a:xfrm>
            <a:off x="-103505" y="3591560"/>
            <a:ext cx="12311380" cy="758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77" tIns="41139" rIns="82277" bIns="41139">
            <a:spAutoFit/>
          </a:bodyPr>
          <a:lstStyle/>
          <a:p>
            <a:pPr algn="ctr" defTabSz="1097280"/>
            <a:r>
              <a:rPr lang="zh-CN" altLang="en-US" sz="44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豆瓣电影</a:t>
            </a:r>
            <a:r>
              <a:rPr lang="en-US" altLang="zh-CN" sz="44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Top250</a:t>
            </a:r>
            <a:r>
              <a:rPr lang="zh-CN" altLang="en-US" sz="44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爬虫数据采集与分析系统</a:t>
            </a:r>
            <a:endParaRPr lang="zh-CN" altLang="en-US" sz="4400" b="1" spc="36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863846" y="5664598"/>
            <a:ext cx="4025456" cy="497207"/>
            <a:chOff x="807410" y="3908881"/>
            <a:chExt cx="3354544" cy="414338"/>
          </a:xfrm>
        </p:grpSpPr>
        <p:sp>
          <p:nvSpPr>
            <p:cNvPr id="51" name="文本框 9"/>
            <p:cNvSpPr txBox="1"/>
            <p:nvPr/>
          </p:nvSpPr>
          <p:spPr>
            <a:xfrm>
              <a:off x="1349114" y="3951550"/>
              <a:ext cx="2812840" cy="315470"/>
            </a:xfrm>
            <a:prstGeom prst="rect">
              <a:avLst/>
            </a:prstGeom>
            <a:noFill/>
          </p:spPr>
          <p:txBody>
            <a:bodyPr wrap="none" lIns="82296" tIns="41148" rIns="82296" bIns="41148" rtlCol="0">
              <a:spAutoFit/>
            </a:bodyPr>
            <a:lstStyle/>
            <a:p>
              <a:pPr defTabSz="1097280"/>
              <a:r>
                <a:rPr lang="zh-CN" altLang="en-US" sz="192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学院：计算机与人工智能学院</a:t>
              </a:r>
              <a:endParaRPr lang="zh-CN" altLang="en-US" sz="192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807410" y="3908881"/>
              <a:ext cx="414338" cy="414338"/>
              <a:chOff x="1076546" y="5402340"/>
              <a:chExt cx="552450" cy="552450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1076546" y="5402340"/>
                <a:ext cx="552450" cy="552450"/>
              </a:xfrm>
              <a:prstGeom prst="ellipse">
                <a:avLst/>
              </a:prstGeom>
              <a:solidFill>
                <a:srgbClr val="FFFFFF">
                  <a:alpha val="6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97280"/>
                <a:endParaRPr lang="zh-CN" altLang="en-US" sz="2160">
                  <a:solidFill>
                    <a:prstClr val="white"/>
                  </a:solidFill>
                  <a:latin typeface="Calibri" panose="020F0502020204030204"/>
                  <a:ea typeface="幼圆" panose="02010509060101010101" charset="-122"/>
                </a:endParaRPr>
              </a:p>
            </p:txBody>
          </p:sp>
          <p:sp>
            <p:nvSpPr>
              <p:cNvPr id="54" name="Freeform 34"/>
              <p:cNvSpPr/>
              <p:nvPr/>
            </p:nvSpPr>
            <p:spPr>
              <a:xfrm flipH="1">
                <a:off x="1192212" y="5526617"/>
                <a:ext cx="328603" cy="249173"/>
              </a:xfrm>
              <a:custGeom>
                <a:avLst/>
                <a:gdLst/>
                <a:ahLst/>
                <a:cxnLst/>
                <a:rect l="l" t="t" r="r" b="b"/>
                <a:pathLst>
                  <a:path w="852601" h="862013">
                    <a:moveTo>
                      <a:pt x="339688" y="551599"/>
                    </a:moveTo>
                    <a:cubicBezTo>
                      <a:pt x="336200" y="550660"/>
                      <a:pt x="332712" y="552270"/>
                      <a:pt x="329224" y="555624"/>
                    </a:cubicBezTo>
                    <a:lnTo>
                      <a:pt x="318760" y="571723"/>
                    </a:lnTo>
                    <a:cubicBezTo>
                      <a:pt x="317687" y="576955"/>
                      <a:pt x="320907" y="582723"/>
                      <a:pt x="322785" y="587017"/>
                    </a:cubicBezTo>
                    <a:cubicBezTo>
                      <a:pt x="324663" y="591310"/>
                      <a:pt x="331370" y="593322"/>
                      <a:pt x="330029" y="597481"/>
                    </a:cubicBezTo>
                    <a:cubicBezTo>
                      <a:pt x="328687" y="601641"/>
                      <a:pt x="318894" y="606739"/>
                      <a:pt x="314735" y="611971"/>
                    </a:cubicBezTo>
                    <a:cubicBezTo>
                      <a:pt x="310576" y="617202"/>
                      <a:pt x="308563" y="620288"/>
                      <a:pt x="303465" y="629679"/>
                    </a:cubicBezTo>
                    <a:cubicBezTo>
                      <a:pt x="298368" y="639070"/>
                      <a:pt x="292062" y="654230"/>
                      <a:pt x="284147" y="668317"/>
                    </a:cubicBezTo>
                    <a:cubicBezTo>
                      <a:pt x="276232" y="682403"/>
                      <a:pt x="261340" y="698637"/>
                      <a:pt x="255974" y="714199"/>
                    </a:cubicBezTo>
                    <a:cubicBezTo>
                      <a:pt x="250607" y="729762"/>
                      <a:pt x="252754" y="745727"/>
                      <a:pt x="251949" y="761691"/>
                    </a:cubicBezTo>
                    <a:cubicBezTo>
                      <a:pt x="251144" y="777656"/>
                      <a:pt x="252351" y="796036"/>
                      <a:pt x="251143" y="809989"/>
                    </a:cubicBezTo>
                    <a:cubicBezTo>
                      <a:pt x="249937" y="823941"/>
                      <a:pt x="245778" y="837357"/>
                      <a:pt x="244705" y="845406"/>
                    </a:cubicBezTo>
                    <a:cubicBezTo>
                      <a:pt x="243631" y="853456"/>
                      <a:pt x="243095" y="855603"/>
                      <a:pt x="244705" y="858286"/>
                    </a:cubicBezTo>
                    <a:cubicBezTo>
                      <a:pt x="245509" y="859627"/>
                      <a:pt x="245945" y="860298"/>
                      <a:pt x="247169" y="860701"/>
                    </a:cubicBezTo>
                    <a:lnTo>
                      <a:pt x="254364" y="861506"/>
                    </a:lnTo>
                    <a:cubicBezTo>
                      <a:pt x="262279" y="862042"/>
                      <a:pt x="277305" y="862310"/>
                      <a:pt x="292196" y="861506"/>
                    </a:cubicBezTo>
                    <a:cubicBezTo>
                      <a:pt x="307088" y="860701"/>
                      <a:pt x="333115" y="857749"/>
                      <a:pt x="343713" y="856676"/>
                    </a:cubicBezTo>
                    <a:cubicBezTo>
                      <a:pt x="343747" y="856684"/>
                      <a:pt x="352708" y="858681"/>
                      <a:pt x="355787" y="855066"/>
                    </a:cubicBezTo>
                    <a:cubicBezTo>
                      <a:pt x="358873" y="851443"/>
                      <a:pt x="361288" y="845675"/>
                      <a:pt x="362227" y="834943"/>
                    </a:cubicBezTo>
                    <a:cubicBezTo>
                      <a:pt x="363166" y="824210"/>
                      <a:pt x="363568" y="808110"/>
                      <a:pt x="361422" y="790670"/>
                    </a:cubicBezTo>
                    <a:cubicBezTo>
                      <a:pt x="359275" y="773229"/>
                      <a:pt x="352299" y="754313"/>
                      <a:pt x="349348" y="730298"/>
                    </a:cubicBezTo>
                    <a:cubicBezTo>
                      <a:pt x="346396" y="706284"/>
                      <a:pt x="344786" y="666439"/>
                      <a:pt x="343713" y="646584"/>
                    </a:cubicBezTo>
                    <a:cubicBezTo>
                      <a:pt x="342640" y="626728"/>
                      <a:pt x="342505" y="619886"/>
                      <a:pt x="342908" y="611166"/>
                    </a:cubicBezTo>
                    <a:cubicBezTo>
                      <a:pt x="343310" y="602446"/>
                      <a:pt x="343713" y="600299"/>
                      <a:pt x="346128" y="594262"/>
                    </a:cubicBezTo>
                    <a:cubicBezTo>
                      <a:pt x="348543" y="588224"/>
                      <a:pt x="356727" y="580443"/>
                      <a:pt x="357397" y="574942"/>
                    </a:cubicBezTo>
                    <a:cubicBezTo>
                      <a:pt x="358068" y="569442"/>
                      <a:pt x="353104" y="565149"/>
                      <a:pt x="350153" y="561258"/>
                    </a:cubicBezTo>
                    <a:close/>
                    <a:moveTo>
                      <a:pt x="287206" y="507649"/>
                    </a:moveTo>
                    <a:cubicBezTo>
                      <a:pt x="299226" y="561742"/>
                      <a:pt x="284201" y="574621"/>
                      <a:pt x="274326" y="617123"/>
                    </a:cubicBezTo>
                    <a:cubicBezTo>
                      <a:pt x="272445" y="626330"/>
                      <a:pt x="270907" y="639718"/>
                      <a:pt x="269556" y="655910"/>
                    </a:cubicBezTo>
                    <a:cubicBezTo>
                      <a:pt x="284442" y="632717"/>
                      <a:pt x="299146" y="601494"/>
                      <a:pt x="316184" y="596515"/>
                    </a:cubicBezTo>
                    <a:cubicBezTo>
                      <a:pt x="314038" y="589217"/>
                      <a:pt x="305451" y="583528"/>
                      <a:pt x="306524" y="574621"/>
                    </a:cubicBezTo>
                    <a:cubicBezTo>
                      <a:pt x="307147" y="563679"/>
                      <a:pt x="314405" y="554950"/>
                      <a:pt x="319949" y="545622"/>
                    </a:cubicBezTo>
                    <a:cubicBezTo>
                      <a:pt x="307786" y="539695"/>
                      <a:pt x="298568" y="525281"/>
                      <a:pt x="287206" y="507649"/>
                    </a:cubicBezTo>
                    <a:close/>
                    <a:moveTo>
                      <a:pt x="264023" y="488330"/>
                    </a:moveTo>
                    <a:cubicBezTo>
                      <a:pt x="251143" y="497345"/>
                      <a:pt x="249856" y="517952"/>
                      <a:pt x="240841" y="523104"/>
                    </a:cubicBezTo>
                    <a:cubicBezTo>
                      <a:pt x="177304" y="542852"/>
                      <a:pt x="103463" y="578055"/>
                      <a:pt x="46365" y="613259"/>
                    </a:cubicBezTo>
                    <a:cubicBezTo>
                      <a:pt x="17601" y="630002"/>
                      <a:pt x="12021" y="649320"/>
                      <a:pt x="6440" y="682806"/>
                    </a:cubicBezTo>
                    <a:lnTo>
                      <a:pt x="0" y="793568"/>
                    </a:lnTo>
                    <a:cubicBezTo>
                      <a:pt x="60532" y="849807"/>
                      <a:pt x="154551" y="840362"/>
                      <a:pt x="230537" y="859252"/>
                    </a:cubicBezTo>
                    <a:cubicBezTo>
                      <a:pt x="242128" y="755359"/>
                      <a:pt x="233113" y="597374"/>
                      <a:pt x="265311" y="542422"/>
                    </a:cubicBezTo>
                    <a:close/>
                    <a:moveTo>
                      <a:pt x="473953" y="438101"/>
                    </a:moveTo>
                    <a:cubicBezTo>
                      <a:pt x="449999" y="476765"/>
                      <a:pt x="395188" y="525303"/>
                      <a:pt x="351750" y="542487"/>
                    </a:cubicBezTo>
                    <a:cubicBezTo>
                      <a:pt x="364570" y="553524"/>
                      <a:pt x="369815" y="566569"/>
                      <a:pt x="371564" y="577519"/>
                    </a:cubicBezTo>
                    <a:cubicBezTo>
                      <a:pt x="371510" y="588305"/>
                      <a:pt x="363407" y="591042"/>
                      <a:pt x="359329" y="597803"/>
                    </a:cubicBezTo>
                    <a:cubicBezTo>
                      <a:pt x="364928" y="652187"/>
                      <a:pt x="355161" y="701683"/>
                      <a:pt x="373271" y="759858"/>
                    </a:cubicBezTo>
                    <a:cubicBezTo>
                      <a:pt x="382583" y="726860"/>
                      <a:pt x="394118" y="694072"/>
                      <a:pt x="406981" y="659624"/>
                    </a:cubicBezTo>
                    <a:cubicBezTo>
                      <a:pt x="434458" y="598661"/>
                      <a:pt x="476100" y="510653"/>
                      <a:pt x="473953" y="438101"/>
                    </a:cubicBezTo>
                    <a:close/>
                    <a:moveTo>
                      <a:pt x="444331" y="425221"/>
                    </a:moveTo>
                    <a:cubicBezTo>
                      <a:pt x="417365" y="457420"/>
                      <a:pt x="365446" y="490423"/>
                      <a:pt x="342908" y="490423"/>
                    </a:cubicBezTo>
                    <a:cubicBezTo>
                      <a:pt x="312722" y="489752"/>
                      <a:pt x="309100" y="473787"/>
                      <a:pt x="292196" y="465469"/>
                    </a:cubicBezTo>
                    <a:cubicBezTo>
                      <a:pt x="308026" y="468152"/>
                      <a:pt x="323455" y="474056"/>
                      <a:pt x="339687" y="473519"/>
                    </a:cubicBezTo>
                    <a:cubicBezTo>
                      <a:pt x="376180" y="473116"/>
                      <a:pt x="416695" y="446955"/>
                      <a:pt x="444331" y="425221"/>
                    </a:cubicBezTo>
                    <a:close/>
                    <a:moveTo>
                      <a:pt x="488121" y="409767"/>
                    </a:moveTo>
                    <a:cubicBezTo>
                      <a:pt x="533198" y="465576"/>
                      <a:pt x="410846" y="692681"/>
                      <a:pt x="376072" y="855388"/>
                    </a:cubicBezTo>
                    <a:cubicBezTo>
                      <a:pt x="489409" y="838216"/>
                      <a:pt x="600169" y="850665"/>
                      <a:pt x="716082" y="803871"/>
                    </a:cubicBezTo>
                    <a:cubicBezTo>
                      <a:pt x="761588" y="800437"/>
                      <a:pt x="808382" y="816321"/>
                      <a:pt x="852601" y="793568"/>
                    </a:cubicBezTo>
                    <a:cubicBezTo>
                      <a:pt x="845303" y="743338"/>
                      <a:pt x="867627" y="646745"/>
                      <a:pt x="772750" y="588788"/>
                    </a:cubicBezTo>
                    <a:cubicBezTo>
                      <a:pt x="729391" y="552726"/>
                      <a:pt x="648681" y="519241"/>
                      <a:pt x="565395" y="492193"/>
                    </a:cubicBezTo>
                    <a:cubicBezTo>
                      <a:pt x="534486" y="468582"/>
                      <a:pt x="515167" y="433379"/>
                      <a:pt x="488121" y="409767"/>
                    </a:cubicBezTo>
                    <a:close/>
                    <a:moveTo>
                      <a:pt x="314467" y="207"/>
                    </a:moveTo>
                    <a:cubicBezTo>
                      <a:pt x="302302" y="922"/>
                      <a:pt x="297652" y="4142"/>
                      <a:pt x="285488" y="8794"/>
                    </a:cubicBezTo>
                    <a:cubicBezTo>
                      <a:pt x="273325" y="13444"/>
                      <a:pt x="253826" y="20241"/>
                      <a:pt x="241485" y="28112"/>
                    </a:cubicBezTo>
                    <a:cubicBezTo>
                      <a:pt x="229142" y="35983"/>
                      <a:pt x="220377" y="43853"/>
                      <a:pt x="211433" y="56017"/>
                    </a:cubicBezTo>
                    <a:cubicBezTo>
                      <a:pt x="202489" y="68180"/>
                      <a:pt x="193724" y="87320"/>
                      <a:pt x="187821" y="101095"/>
                    </a:cubicBezTo>
                    <a:cubicBezTo>
                      <a:pt x="181919" y="114868"/>
                      <a:pt x="176194" y="121665"/>
                      <a:pt x="176015" y="138658"/>
                    </a:cubicBezTo>
                    <a:cubicBezTo>
                      <a:pt x="175837" y="155652"/>
                      <a:pt x="182813" y="191249"/>
                      <a:pt x="186748" y="203055"/>
                    </a:cubicBezTo>
                    <a:lnTo>
                      <a:pt x="187520" y="204007"/>
                    </a:lnTo>
                    <a:lnTo>
                      <a:pt x="191027" y="223887"/>
                    </a:lnTo>
                    <a:cubicBezTo>
                      <a:pt x="185407" y="222374"/>
                      <a:pt x="182724" y="232570"/>
                      <a:pt x="184333" y="241693"/>
                    </a:cubicBezTo>
                    <a:cubicBezTo>
                      <a:pt x="185943" y="250815"/>
                      <a:pt x="196139" y="265841"/>
                      <a:pt x="198822" y="277111"/>
                    </a:cubicBezTo>
                    <a:cubicBezTo>
                      <a:pt x="201505" y="288380"/>
                      <a:pt x="200298" y="299113"/>
                      <a:pt x="200432" y="309308"/>
                    </a:cubicBezTo>
                    <a:cubicBezTo>
                      <a:pt x="200566" y="319505"/>
                      <a:pt x="198285" y="331579"/>
                      <a:pt x="199627" y="338286"/>
                    </a:cubicBezTo>
                    <a:cubicBezTo>
                      <a:pt x="200969" y="344995"/>
                      <a:pt x="205128" y="346739"/>
                      <a:pt x="208482" y="349556"/>
                    </a:cubicBezTo>
                    <a:cubicBezTo>
                      <a:pt x="211836" y="352373"/>
                      <a:pt x="218275" y="343385"/>
                      <a:pt x="219751" y="355191"/>
                    </a:cubicBezTo>
                    <a:cubicBezTo>
                      <a:pt x="221227" y="366997"/>
                      <a:pt x="229008" y="395036"/>
                      <a:pt x="236655" y="410733"/>
                    </a:cubicBezTo>
                    <a:cubicBezTo>
                      <a:pt x="244301" y="426429"/>
                      <a:pt x="259999" y="439845"/>
                      <a:pt x="265633" y="449370"/>
                    </a:cubicBezTo>
                    <a:cubicBezTo>
                      <a:pt x="271268" y="458895"/>
                      <a:pt x="266438" y="460372"/>
                      <a:pt x="270463" y="467884"/>
                    </a:cubicBezTo>
                    <a:cubicBezTo>
                      <a:pt x="274487" y="475397"/>
                      <a:pt x="281330" y="484118"/>
                      <a:pt x="289781" y="494447"/>
                    </a:cubicBezTo>
                    <a:cubicBezTo>
                      <a:pt x="298233" y="504778"/>
                      <a:pt x="311246" y="524097"/>
                      <a:pt x="321175" y="529866"/>
                    </a:cubicBezTo>
                    <a:cubicBezTo>
                      <a:pt x="331102" y="535634"/>
                      <a:pt x="333383" y="536305"/>
                      <a:pt x="349348" y="529061"/>
                    </a:cubicBezTo>
                    <a:cubicBezTo>
                      <a:pt x="365312" y="521816"/>
                      <a:pt x="399657" y="499680"/>
                      <a:pt x="416963" y="486398"/>
                    </a:cubicBezTo>
                    <a:cubicBezTo>
                      <a:pt x="434270" y="473116"/>
                      <a:pt x="444331" y="459298"/>
                      <a:pt x="453186" y="449370"/>
                    </a:cubicBezTo>
                    <a:cubicBezTo>
                      <a:pt x="462041" y="439443"/>
                      <a:pt x="466601" y="434746"/>
                      <a:pt x="470089" y="426831"/>
                    </a:cubicBezTo>
                    <a:cubicBezTo>
                      <a:pt x="473577" y="418917"/>
                      <a:pt x="471968" y="409526"/>
                      <a:pt x="474115" y="401878"/>
                    </a:cubicBezTo>
                    <a:cubicBezTo>
                      <a:pt x="476261" y="394231"/>
                      <a:pt x="480688" y="390341"/>
                      <a:pt x="482969" y="380949"/>
                    </a:cubicBezTo>
                    <a:cubicBezTo>
                      <a:pt x="485249" y="371558"/>
                      <a:pt x="484847" y="352373"/>
                      <a:pt x="487799" y="345532"/>
                    </a:cubicBezTo>
                    <a:cubicBezTo>
                      <a:pt x="490750" y="338689"/>
                      <a:pt x="496788" y="343787"/>
                      <a:pt x="500678" y="339897"/>
                    </a:cubicBezTo>
                    <a:cubicBezTo>
                      <a:pt x="504569" y="336006"/>
                      <a:pt x="508996" y="331177"/>
                      <a:pt x="511142" y="322188"/>
                    </a:cubicBezTo>
                    <a:cubicBezTo>
                      <a:pt x="513289" y="313199"/>
                      <a:pt x="511947" y="299515"/>
                      <a:pt x="513557" y="285965"/>
                    </a:cubicBezTo>
                    <a:cubicBezTo>
                      <a:pt x="515167" y="272415"/>
                      <a:pt x="520131" y="252425"/>
                      <a:pt x="520801" y="240888"/>
                    </a:cubicBezTo>
                    <a:cubicBezTo>
                      <a:pt x="521473" y="229350"/>
                      <a:pt x="520131" y="222508"/>
                      <a:pt x="517582" y="216739"/>
                    </a:cubicBezTo>
                    <a:lnTo>
                      <a:pt x="505508" y="206274"/>
                    </a:lnTo>
                    <a:cubicBezTo>
                      <a:pt x="501482" y="205872"/>
                      <a:pt x="496788" y="209897"/>
                      <a:pt x="493433" y="214324"/>
                    </a:cubicBezTo>
                    <a:cubicBezTo>
                      <a:pt x="490893" y="217677"/>
                      <a:pt x="489661" y="229032"/>
                      <a:pt x="487525" y="232413"/>
                    </a:cubicBezTo>
                    <a:lnTo>
                      <a:pt x="486770" y="223363"/>
                    </a:lnTo>
                    <a:lnTo>
                      <a:pt x="488165" y="195462"/>
                    </a:lnTo>
                    <a:lnTo>
                      <a:pt x="490482" y="198762"/>
                    </a:lnTo>
                    <a:cubicBezTo>
                      <a:pt x="492986" y="200550"/>
                      <a:pt x="494238" y="195185"/>
                      <a:pt x="496921" y="194469"/>
                    </a:cubicBezTo>
                    <a:cubicBezTo>
                      <a:pt x="499604" y="193754"/>
                      <a:pt x="503002" y="193217"/>
                      <a:pt x="506581" y="194469"/>
                    </a:cubicBezTo>
                    <a:cubicBezTo>
                      <a:pt x="510158" y="195721"/>
                      <a:pt x="516419" y="202876"/>
                      <a:pt x="518386" y="201981"/>
                    </a:cubicBezTo>
                    <a:cubicBezTo>
                      <a:pt x="519370" y="201534"/>
                      <a:pt x="519370" y="200774"/>
                      <a:pt x="519124" y="198896"/>
                    </a:cubicBezTo>
                    <a:lnTo>
                      <a:pt x="518386" y="189102"/>
                    </a:lnTo>
                    <a:cubicBezTo>
                      <a:pt x="518391" y="189053"/>
                      <a:pt x="521603" y="159753"/>
                      <a:pt x="518386" y="142952"/>
                    </a:cubicBezTo>
                    <a:cubicBezTo>
                      <a:pt x="515167" y="126137"/>
                      <a:pt x="506760" y="103778"/>
                      <a:pt x="499068" y="88215"/>
                    </a:cubicBezTo>
                    <a:cubicBezTo>
                      <a:pt x="491376" y="72652"/>
                      <a:pt x="479213" y="57627"/>
                      <a:pt x="472236" y="49577"/>
                    </a:cubicBezTo>
                    <a:cubicBezTo>
                      <a:pt x="465260" y="41528"/>
                      <a:pt x="466154" y="44211"/>
                      <a:pt x="457210" y="39918"/>
                    </a:cubicBezTo>
                    <a:cubicBezTo>
                      <a:pt x="448266" y="35625"/>
                      <a:pt x="435030" y="29722"/>
                      <a:pt x="418572" y="23818"/>
                    </a:cubicBezTo>
                    <a:cubicBezTo>
                      <a:pt x="402117" y="17916"/>
                      <a:pt x="375821" y="8435"/>
                      <a:pt x="358470" y="4500"/>
                    </a:cubicBezTo>
                    <a:cubicBezTo>
                      <a:pt x="341118" y="564"/>
                      <a:pt x="326630" y="-509"/>
                      <a:pt x="314467" y="207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2303" tIns="41153" rIns="82303" bIns="41153" rtlCol="0" anchor="ctr"/>
              <a:lstStyle/>
              <a:p>
                <a:pPr algn="ctr" defTabSz="617220"/>
                <a:endParaRPr lang="en-US" sz="2160" dirty="0">
                  <a:solidFill>
                    <a:prstClr val="white"/>
                  </a:solidFill>
                  <a:latin typeface="微软雅黑" panose="020B0503020204020204" pitchFamily="34" charset="-122"/>
                  <a:ea typeface="幼圆" panose="02010509060101010101" charset="-122"/>
                </a:endParaRP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2536014" y="5713863"/>
            <a:ext cx="3452127" cy="497207"/>
            <a:chOff x="2953483" y="3742767"/>
            <a:chExt cx="2876769" cy="414338"/>
          </a:xfrm>
        </p:grpSpPr>
        <p:sp>
          <p:nvSpPr>
            <p:cNvPr id="56" name="文本框 8"/>
            <p:cNvSpPr txBox="1"/>
            <p:nvPr/>
          </p:nvSpPr>
          <p:spPr>
            <a:xfrm>
              <a:off x="3541080" y="3777575"/>
              <a:ext cx="2289172" cy="313266"/>
            </a:xfrm>
            <a:prstGeom prst="rect">
              <a:avLst/>
            </a:prstGeom>
            <a:noFill/>
          </p:spPr>
          <p:txBody>
            <a:bodyPr wrap="none" lIns="82296" tIns="41148" rIns="82296" bIns="41148" rtlCol="0">
              <a:spAutoFit/>
            </a:bodyPr>
            <a:lstStyle/>
            <a:p>
              <a:pPr defTabSz="1097280"/>
              <a:r>
                <a:rPr lang="zh-CN" altLang="en-US" sz="192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汇报人：田韵、</a:t>
              </a:r>
              <a:r>
                <a:rPr lang="zh-CN" altLang="en-US" sz="192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匡欣怡  </a:t>
              </a:r>
              <a:endParaRPr lang="zh-CN" altLang="en-US" sz="192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2953483" y="3742767"/>
              <a:ext cx="414338" cy="414338"/>
              <a:chOff x="3937978" y="5180856"/>
              <a:chExt cx="552450" cy="552450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3937978" y="5180856"/>
                <a:ext cx="552450" cy="552450"/>
              </a:xfrm>
              <a:prstGeom prst="ellipse">
                <a:avLst/>
              </a:prstGeom>
              <a:solidFill>
                <a:srgbClr val="FFFFFF">
                  <a:alpha val="6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97280"/>
                <a:r>
                  <a:rPr lang="en-US" altLang="zh-CN" sz="21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rPr>
                  <a:t>X</a:t>
                </a:r>
                <a:endParaRPr lang="zh-CN" altLang="en-US" sz="2160" dirty="0">
                  <a:solidFill>
                    <a:prstClr val="white"/>
                  </a:solidFill>
                  <a:latin typeface="Calibri" panose="020F0502020204030204"/>
                  <a:ea typeface="幼圆" panose="02010509060101010101" charset="-122"/>
                </a:endParaRPr>
              </a:p>
            </p:txBody>
          </p:sp>
          <p:grpSp>
            <p:nvGrpSpPr>
              <p:cNvPr id="59" name="Group 38"/>
              <p:cNvGrpSpPr/>
              <p:nvPr/>
            </p:nvGrpSpPr>
            <p:grpSpPr>
              <a:xfrm>
                <a:off x="4022991" y="5324161"/>
                <a:ext cx="348415" cy="247981"/>
                <a:chOff x="5326857" y="2779521"/>
                <a:chExt cx="2283619" cy="2167129"/>
              </a:xfrm>
              <a:solidFill>
                <a:schemeClr val="bg1"/>
              </a:solidFill>
            </p:grpSpPr>
            <p:sp>
              <p:nvSpPr>
                <p:cNvPr id="60" name="Freeform 45"/>
                <p:cNvSpPr/>
                <p:nvPr/>
              </p:nvSpPr>
              <p:spPr>
                <a:xfrm>
                  <a:off x="5326857" y="3228975"/>
                  <a:ext cx="1147085" cy="1083469"/>
                </a:xfrm>
                <a:custGeom>
                  <a:avLst/>
                  <a:gdLst>
                    <a:gd name="connsiteX0" fmla="*/ 1090612 w 1147085"/>
                    <a:gd name="connsiteY0" fmla="*/ 0 h 1083469"/>
                    <a:gd name="connsiteX1" fmla="*/ 1147085 w 1147085"/>
                    <a:gd name="connsiteY1" fmla="*/ 460567 h 1083469"/>
                    <a:gd name="connsiteX2" fmla="*/ 1078295 w 1147085"/>
                    <a:gd name="connsiteY2" fmla="*/ 504743 h 1083469"/>
                    <a:gd name="connsiteX3" fmla="*/ 1025237 w 1147085"/>
                    <a:gd name="connsiteY3" fmla="*/ 72025 h 1083469"/>
                    <a:gd name="connsiteX4" fmla="*/ 79622 w 1147085"/>
                    <a:gd name="connsiteY4" fmla="*/ 171129 h 1083469"/>
                    <a:gd name="connsiteX5" fmla="*/ 186985 w 1147085"/>
                    <a:gd name="connsiteY5" fmla="*/ 990798 h 1083469"/>
                    <a:gd name="connsiteX6" fmla="*/ 186985 w 1147085"/>
                    <a:gd name="connsiteY6" fmla="*/ 1011445 h 1083469"/>
                    <a:gd name="connsiteX7" fmla="*/ 977729 w 1147085"/>
                    <a:gd name="connsiteY7" fmla="*/ 857154 h 1083469"/>
                    <a:gd name="connsiteX8" fmla="*/ 977729 w 1147085"/>
                    <a:gd name="connsiteY8" fmla="*/ 916854 h 1083469"/>
                    <a:gd name="connsiteX9" fmla="*/ 123825 w 1147085"/>
                    <a:gd name="connsiteY9" fmla="*/ 1083469 h 1083469"/>
                    <a:gd name="connsiteX10" fmla="*/ 0 w 1147085"/>
                    <a:gd name="connsiteY10" fmla="*/ 114300 h 1083469"/>
                    <a:gd name="connsiteX11" fmla="*/ 1090612 w 1147085"/>
                    <a:gd name="connsiteY11" fmla="*/ 0 h 1083469"/>
                    <a:gd name="connsiteX0-1" fmla="*/ 1090612 w 1147085"/>
                    <a:gd name="connsiteY0-2" fmla="*/ 0 h 1083469"/>
                    <a:gd name="connsiteX1-3" fmla="*/ 1147085 w 1147085"/>
                    <a:gd name="connsiteY1-4" fmla="*/ 460567 h 1083469"/>
                    <a:gd name="connsiteX2-5" fmla="*/ 1078295 w 1147085"/>
                    <a:gd name="connsiteY2-6" fmla="*/ 504743 h 1083469"/>
                    <a:gd name="connsiteX3-7" fmla="*/ 1025237 w 1147085"/>
                    <a:gd name="connsiteY3-8" fmla="*/ 72025 h 1083469"/>
                    <a:gd name="connsiteX4-9" fmla="*/ 79622 w 1147085"/>
                    <a:gd name="connsiteY4-10" fmla="*/ 171129 h 1083469"/>
                    <a:gd name="connsiteX5-11" fmla="*/ 186985 w 1147085"/>
                    <a:gd name="connsiteY5-12" fmla="*/ 1011445 h 1083469"/>
                    <a:gd name="connsiteX6-13" fmla="*/ 977729 w 1147085"/>
                    <a:gd name="connsiteY6-14" fmla="*/ 857154 h 1083469"/>
                    <a:gd name="connsiteX7-15" fmla="*/ 977729 w 1147085"/>
                    <a:gd name="connsiteY7-16" fmla="*/ 916854 h 1083469"/>
                    <a:gd name="connsiteX8-17" fmla="*/ 123825 w 1147085"/>
                    <a:gd name="connsiteY8-18" fmla="*/ 1083469 h 1083469"/>
                    <a:gd name="connsiteX9-19" fmla="*/ 0 w 1147085"/>
                    <a:gd name="connsiteY9-20" fmla="*/ 114300 h 1083469"/>
                    <a:gd name="connsiteX10-21" fmla="*/ 1090612 w 1147085"/>
                    <a:gd name="connsiteY10-22" fmla="*/ 0 h 108346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1147085" h="1083469">
                      <a:moveTo>
                        <a:pt x="1090612" y="0"/>
                      </a:moveTo>
                      <a:lnTo>
                        <a:pt x="1147085" y="460567"/>
                      </a:lnTo>
                      <a:cubicBezTo>
                        <a:pt x="1121629" y="471368"/>
                        <a:pt x="1098257" y="486098"/>
                        <a:pt x="1078295" y="504743"/>
                      </a:cubicBezTo>
                      <a:lnTo>
                        <a:pt x="1025237" y="72025"/>
                      </a:lnTo>
                      <a:lnTo>
                        <a:pt x="79622" y="171129"/>
                      </a:lnTo>
                      <a:lnTo>
                        <a:pt x="186985" y="1011445"/>
                      </a:lnTo>
                      <a:lnTo>
                        <a:pt x="977729" y="857154"/>
                      </a:lnTo>
                      <a:lnTo>
                        <a:pt x="977729" y="916854"/>
                      </a:lnTo>
                      <a:lnTo>
                        <a:pt x="123825" y="1083469"/>
                      </a:lnTo>
                      <a:lnTo>
                        <a:pt x="0" y="114300"/>
                      </a:lnTo>
                      <a:lnTo>
                        <a:pt x="1090612" y="0"/>
                      </a:ln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1" name="Oval 23"/>
                <p:cNvSpPr/>
                <p:nvPr/>
              </p:nvSpPr>
              <p:spPr bwMode="auto">
                <a:xfrm>
                  <a:off x="5472973" y="4217016"/>
                  <a:ext cx="831613" cy="51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613" h="515322">
                      <a:moveTo>
                        <a:pt x="656506" y="0"/>
                      </a:moveTo>
                      <a:cubicBezTo>
                        <a:pt x="722980" y="12459"/>
                        <a:pt x="782484" y="33487"/>
                        <a:pt x="831613" y="60220"/>
                      </a:cubicBezTo>
                      <a:lnTo>
                        <a:pt x="831613" y="156807"/>
                      </a:lnTo>
                      <a:lnTo>
                        <a:pt x="790343" y="156807"/>
                      </a:lnTo>
                      <a:cubicBezTo>
                        <a:pt x="689578" y="156807"/>
                        <a:pt x="607892" y="247187"/>
                        <a:pt x="607892" y="358678"/>
                      </a:cubicBezTo>
                      <a:cubicBezTo>
                        <a:pt x="607892" y="412735"/>
                        <a:pt x="627095" y="461830"/>
                        <a:pt x="658968" y="497546"/>
                      </a:cubicBezTo>
                      <a:cubicBezTo>
                        <a:pt x="605816" y="509342"/>
                        <a:pt x="548050" y="515322"/>
                        <a:pt x="487726" y="515322"/>
                      </a:cubicBezTo>
                      <a:cubicBezTo>
                        <a:pt x="218362" y="515322"/>
                        <a:pt x="0" y="396081"/>
                        <a:pt x="0" y="248990"/>
                      </a:cubicBezTo>
                      <a:cubicBezTo>
                        <a:pt x="0" y="198934"/>
                        <a:pt x="25288" y="152104"/>
                        <a:pt x="70263" y="113194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2" name="Rounded Rectangle 13"/>
                <p:cNvSpPr/>
                <p:nvPr/>
              </p:nvSpPr>
              <p:spPr bwMode="auto">
                <a:xfrm>
                  <a:off x="6127748" y="3705225"/>
                  <a:ext cx="1375518" cy="124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518" h="1241425">
                      <a:moveTo>
                        <a:pt x="880211" y="0"/>
                      </a:moveTo>
                      <a:lnTo>
                        <a:pt x="1125002" y="0"/>
                      </a:lnTo>
                      <a:cubicBezTo>
                        <a:pt x="1202113" y="0"/>
                        <a:pt x="1271265" y="34077"/>
                        <a:pt x="1317403" y="88704"/>
                      </a:cubicBezTo>
                      <a:cubicBezTo>
                        <a:pt x="1244331" y="103169"/>
                        <a:pt x="1190628" y="168346"/>
                        <a:pt x="1190628" y="246066"/>
                      </a:cubicBezTo>
                      <a:lnTo>
                        <a:pt x="1190628" y="708029"/>
                      </a:lnTo>
                      <a:lnTo>
                        <a:pt x="929175" y="708029"/>
                      </a:lnTo>
                      <a:lnTo>
                        <a:pt x="803618" y="172438"/>
                      </a:lnTo>
                      <a:close/>
                      <a:moveTo>
                        <a:pt x="481554" y="0"/>
                      </a:moveTo>
                      <a:lnTo>
                        <a:pt x="726347" y="0"/>
                      </a:lnTo>
                      <a:lnTo>
                        <a:pt x="802940" y="172436"/>
                      </a:lnTo>
                      <a:lnTo>
                        <a:pt x="674361" y="720915"/>
                      </a:lnTo>
                      <a:cubicBezTo>
                        <a:pt x="614856" y="745801"/>
                        <a:pt x="573090" y="804586"/>
                        <a:pt x="573090" y="873128"/>
                      </a:cubicBezTo>
                      <a:cubicBezTo>
                        <a:pt x="573090" y="964310"/>
                        <a:pt x="647007" y="1038227"/>
                        <a:pt x="738189" y="1038227"/>
                      </a:cubicBezTo>
                      <a:lnTo>
                        <a:pt x="1375518" y="1038227"/>
                      </a:lnTo>
                      <a:cubicBezTo>
                        <a:pt x="1351252" y="1154299"/>
                        <a:pt x="1248302" y="1241425"/>
                        <a:pt x="1125002" y="1241425"/>
                      </a:cubicBezTo>
                      <a:lnTo>
                        <a:pt x="481554" y="1241425"/>
                      </a:lnTo>
                      <a:cubicBezTo>
                        <a:pt x="358254" y="1241425"/>
                        <a:pt x="255302" y="1154298"/>
                        <a:pt x="231037" y="1038224"/>
                      </a:cubicBezTo>
                      <a:lnTo>
                        <a:pt x="165099" y="1038224"/>
                      </a:lnTo>
                      <a:cubicBezTo>
                        <a:pt x="73917" y="1038224"/>
                        <a:pt x="0" y="964307"/>
                        <a:pt x="0" y="873125"/>
                      </a:cubicBezTo>
                      <a:cubicBezTo>
                        <a:pt x="0" y="781943"/>
                        <a:pt x="73917" y="708026"/>
                        <a:pt x="165099" y="708026"/>
                      </a:cubicBezTo>
                      <a:lnTo>
                        <a:pt x="225428" y="708026"/>
                      </a:lnTo>
                      <a:lnTo>
                        <a:pt x="225428" y="256126"/>
                      </a:lnTo>
                      <a:cubicBezTo>
                        <a:pt x="225428" y="114672"/>
                        <a:pt x="340100" y="0"/>
                        <a:pt x="481554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3" name="Oval 57"/>
                <p:cNvSpPr/>
                <p:nvPr/>
              </p:nvSpPr>
              <p:spPr bwMode="auto">
                <a:xfrm>
                  <a:off x="6524624" y="2779521"/>
                  <a:ext cx="835025" cy="835025"/>
                </a:xfrm>
                <a:prstGeom prst="ellips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4" name="Rounded Rectangle 14"/>
                <p:cNvSpPr/>
                <p:nvPr/>
              </p:nvSpPr>
              <p:spPr bwMode="auto">
                <a:xfrm>
                  <a:off x="6740522" y="3829050"/>
                  <a:ext cx="869954" cy="874713"/>
                </a:xfrm>
                <a:custGeom>
                  <a:avLst/>
                  <a:gdLst>
                    <a:gd name="connsiteX0" fmla="*/ 744540 w 869954"/>
                    <a:gd name="connsiteY0" fmla="*/ 0 h 874713"/>
                    <a:gd name="connsiteX1" fmla="*/ 869954 w 869954"/>
                    <a:gd name="connsiteY1" fmla="*/ 125414 h 874713"/>
                    <a:gd name="connsiteX2" fmla="*/ 869953 w 869954"/>
                    <a:gd name="connsiteY2" fmla="*/ 706437 h 874713"/>
                    <a:gd name="connsiteX3" fmla="*/ 869952 w 869954"/>
                    <a:gd name="connsiteY3" fmla="*/ 749299 h 874713"/>
                    <a:gd name="connsiteX4" fmla="*/ 744538 w 869954"/>
                    <a:gd name="connsiteY4" fmla="*/ 874713 h 874713"/>
                    <a:gd name="connsiteX5" fmla="*/ 125414 w 869954"/>
                    <a:gd name="connsiteY5" fmla="*/ 874712 h 874713"/>
                    <a:gd name="connsiteX6" fmla="*/ 0 w 869954"/>
                    <a:gd name="connsiteY6" fmla="*/ 749298 h 874713"/>
                    <a:gd name="connsiteX7" fmla="*/ 1 w 869954"/>
                    <a:gd name="connsiteY7" fmla="*/ 749299 h 874713"/>
                    <a:gd name="connsiteX8" fmla="*/ 125415 w 869954"/>
                    <a:gd name="connsiteY8" fmla="*/ 623885 h 874713"/>
                    <a:gd name="connsiteX9" fmla="*/ 619126 w 869954"/>
                    <a:gd name="connsiteY9" fmla="*/ 623885 h 874713"/>
                    <a:gd name="connsiteX10" fmla="*/ 619126 w 869954"/>
                    <a:gd name="connsiteY10" fmla="*/ 125414 h 874713"/>
                    <a:gd name="connsiteX11" fmla="*/ 744540 w 869954"/>
                    <a:gd name="connsiteY11" fmla="*/ 0 h 874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69954" h="874713">
                      <a:moveTo>
                        <a:pt x="744540" y="0"/>
                      </a:moveTo>
                      <a:cubicBezTo>
                        <a:pt x="813804" y="0"/>
                        <a:pt x="869954" y="56150"/>
                        <a:pt x="869954" y="125414"/>
                      </a:cubicBezTo>
                      <a:cubicBezTo>
                        <a:pt x="869954" y="319088"/>
                        <a:pt x="869953" y="512763"/>
                        <a:pt x="869953" y="706437"/>
                      </a:cubicBezTo>
                      <a:cubicBezTo>
                        <a:pt x="869953" y="720724"/>
                        <a:pt x="869952" y="735012"/>
                        <a:pt x="869952" y="749299"/>
                      </a:cubicBezTo>
                      <a:cubicBezTo>
                        <a:pt x="869952" y="818563"/>
                        <a:pt x="813802" y="874713"/>
                        <a:pt x="744538" y="874713"/>
                      </a:cubicBezTo>
                      <a:lnTo>
                        <a:pt x="125414" y="874712"/>
                      </a:lnTo>
                      <a:cubicBezTo>
                        <a:pt x="56150" y="874712"/>
                        <a:pt x="0" y="818562"/>
                        <a:pt x="0" y="749298"/>
                      </a:cubicBezTo>
                      <a:lnTo>
                        <a:pt x="1" y="749299"/>
                      </a:lnTo>
                      <a:cubicBezTo>
                        <a:pt x="1" y="680035"/>
                        <a:pt x="56151" y="623885"/>
                        <a:pt x="125415" y="623885"/>
                      </a:cubicBezTo>
                      <a:lnTo>
                        <a:pt x="619126" y="623885"/>
                      </a:lnTo>
                      <a:lnTo>
                        <a:pt x="619126" y="125414"/>
                      </a:lnTo>
                      <a:cubicBezTo>
                        <a:pt x="619126" y="56150"/>
                        <a:pt x="675276" y="0"/>
                        <a:pt x="744540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</p:grpSp>
        </p:grpSp>
      </p:grpSp>
      <p:pic>
        <p:nvPicPr>
          <p:cNvPr id="67" name="图片 6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77" y="1193399"/>
            <a:ext cx="2100869" cy="21008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rot="16200000">
            <a:off x="3559939" y="1870714"/>
            <a:ext cx="3901440" cy="2726055"/>
          </a:xfrm>
          <a:custGeom>
            <a:avLst/>
            <a:gdLst>
              <a:gd name="connsiteX0" fmla="*/ 1030079 w 2883578"/>
              <a:gd name="connsiteY0" fmla="*/ 0 h 2418446"/>
              <a:gd name="connsiteX1" fmla="*/ 1053716 w 2883578"/>
              <a:gd name="connsiteY1" fmla="*/ 43547 h 2418446"/>
              <a:gd name="connsiteX2" fmla="*/ 1441789 w 2883578"/>
              <a:gd name="connsiteY2" fmla="*/ 249884 h 2418446"/>
              <a:gd name="connsiteX3" fmla="*/ 1829862 w 2883578"/>
              <a:gd name="connsiteY3" fmla="*/ 43547 h 2418446"/>
              <a:gd name="connsiteX4" fmla="*/ 1853499 w 2883578"/>
              <a:gd name="connsiteY4" fmla="*/ 0 h 2418446"/>
              <a:gd name="connsiteX5" fmla="*/ 2883578 w 2883578"/>
              <a:gd name="connsiteY5" fmla="*/ 2418446 h 2418446"/>
              <a:gd name="connsiteX6" fmla="*/ 0 w 2883578"/>
              <a:gd name="connsiteY6" fmla="*/ 2418446 h 241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3578" h="2418446">
                <a:moveTo>
                  <a:pt x="1030079" y="0"/>
                </a:moveTo>
                <a:lnTo>
                  <a:pt x="1053716" y="43547"/>
                </a:lnTo>
                <a:cubicBezTo>
                  <a:pt x="1137819" y="168036"/>
                  <a:pt x="1280246" y="249884"/>
                  <a:pt x="1441789" y="249884"/>
                </a:cubicBezTo>
                <a:cubicBezTo>
                  <a:pt x="1603332" y="249884"/>
                  <a:pt x="1745759" y="168036"/>
                  <a:pt x="1829862" y="43547"/>
                </a:cubicBezTo>
                <a:lnTo>
                  <a:pt x="1853499" y="0"/>
                </a:lnTo>
                <a:lnTo>
                  <a:pt x="2883578" y="2418446"/>
                </a:lnTo>
                <a:lnTo>
                  <a:pt x="0" y="2418446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ysClr val="window" lastClr="FFFFFF">
                  <a:alpha val="0"/>
                </a:sys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0171" tIns="54851" rIns="950171" bIns="54851" anchor="ctr"/>
          <a:lstStyle/>
          <a:p>
            <a:pPr algn="ctr" defTabSz="1097280">
              <a:lnSpc>
                <a:spcPct val="130000"/>
              </a:lnSpc>
              <a:defRPr/>
            </a:pPr>
            <a:endParaRPr lang="zh-CN" altLang="en-US" sz="2160" kern="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81233" y="1261971"/>
            <a:ext cx="3370679" cy="432436"/>
            <a:chOff x="4542755" y="1051718"/>
            <a:chExt cx="2808899" cy="360363"/>
          </a:xfrm>
        </p:grpSpPr>
        <p:sp>
          <p:nvSpPr>
            <p:cNvPr id="4" name="矩形 3"/>
            <p:cNvSpPr/>
            <p:nvPr/>
          </p:nvSpPr>
          <p:spPr>
            <a:xfrm>
              <a:off x="4869780" y="1069181"/>
              <a:ext cx="2481874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/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2"/>
              </p:custDataLst>
            </p:nvPr>
          </p:nvSpPr>
          <p:spPr>
            <a:xfrm>
              <a:off x="4542755" y="1051718"/>
              <a:ext cx="360362" cy="360363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>
                <a:defRPr/>
              </a:pPr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6481233" y="2140652"/>
            <a:ext cx="3370679" cy="430531"/>
            <a:chOff x="4542755" y="1637506"/>
            <a:chExt cx="2808899" cy="358775"/>
          </a:xfrm>
        </p:grpSpPr>
        <p:sp>
          <p:nvSpPr>
            <p:cNvPr id="7" name="矩形 6"/>
            <p:cNvSpPr/>
            <p:nvPr/>
          </p:nvSpPr>
          <p:spPr>
            <a:xfrm>
              <a:off x="4869780" y="1654968"/>
              <a:ext cx="2481874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/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4"/>
              </p:custDataLst>
            </p:nvPr>
          </p:nvSpPr>
          <p:spPr>
            <a:xfrm>
              <a:off x="4542755" y="1637506"/>
              <a:ext cx="360362" cy="358775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6481231" y="3017428"/>
            <a:ext cx="2837347" cy="432435"/>
            <a:chOff x="4542755" y="2221706"/>
            <a:chExt cx="2364455" cy="360362"/>
          </a:xfrm>
        </p:grpSpPr>
        <p:sp>
          <p:nvSpPr>
            <p:cNvPr id="10" name="矩形 9"/>
            <p:cNvSpPr/>
            <p:nvPr/>
          </p:nvSpPr>
          <p:spPr>
            <a:xfrm>
              <a:off x="4869779" y="2240756"/>
              <a:ext cx="2037431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>
                <a:lnSpc>
                  <a:spcPct val="120000"/>
                </a:lnSpc>
              </a:pP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>
              <p:custDataLst>
                <p:tags r:id="rId6"/>
              </p:custDataLst>
            </p:nvPr>
          </p:nvSpPr>
          <p:spPr>
            <a:xfrm>
              <a:off x="4542755" y="2221706"/>
              <a:ext cx="360362" cy="360362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09600" y="2224947"/>
            <a:ext cx="4708715" cy="1929956"/>
            <a:chOff x="0" y="1996995"/>
            <a:chExt cx="3923928" cy="1608297"/>
          </a:xfrm>
        </p:grpSpPr>
        <p:sp>
          <p:nvSpPr>
            <p:cNvPr id="22" name="矩形 21"/>
            <p:cNvSpPr/>
            <p:nvPr/>
          </p:nvSpPr>
          <p:spPr>
            <a:xfrm>
              <a:off x="0" y="2095384"/>
              <a:ext cx="2948360" cy="14616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2317378" y="1996995"/>
              <a:ext cx="1606550" cy="1608297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>
                <a:lnSpc>
                  <a:spcPct val="130000"/>
                </a:lnSpc>
                <a:defRPr/>
              </a:pPr>
              <a:endParaRPr lang="zh-CN" altLang="en-US" sz="288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" y="6523012"/>
            <a:ext cx="12192001" cy="362511"/>
            <a:chOff x="-480925" y="5435830"/>
            <a:chExt cx="9618457" cy="302092"/>
          </a:xfrm>
          <a:solidFill>
            <a:schemeClr val="tx2">
              <a:lumMod val="75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-480925" y="5435830"/>
              <a:ext cx="2322547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471931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23977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47954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295909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1060126" y="2912928"/>
            <a:ext cx="1680281" cy="997170"/>
          </a:xfrm>
          <a:prstGeom prst="rect">
            <a:avLst/>
          </a:prstGeom>
        </p:spPr>
        <p:txBody>
          <a:bodyPr wrap="none" lIns="109703" tIns="54851" rIns="109703" bIns="54851">
            <a:spAutoFit/>
          </a:bodyPr>
          <a:lstStyle/>
          <a:p>
            <a:pPr algn="ctr" defTabSz="822960"/>
            <a:r>
              <a:rPr lang="zh-CN" altLang="en-US" sz="288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88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22960"/>
            <a:r>
              <a:rPr lang="en-US" altLang="zh-CN" sz="288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contens</a:t>
            </a:r>
            <a:endParaRPr lang="en-US" altLang="zh-CN" sz="288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066" y="2102782"/>
            <a:ext cx="2100869" cy="2100869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7391151" y="1239691"/>
            <a:ext cx="149288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项目概述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7391151" y="2045538"/>
            <a:ext cx="201168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基础爬取模块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7393579" y="2935959"/>
            <a:ext cx="353568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进阶详情与动态爬取模块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11"/>
            </p:custDataLst>
          </p:nvPr>
        </p:nvGrpSpPr>
        <p:grpSpPr>
          <a:xfrm>
            <a:off x="6481231" y="3938178"/>
            <a:ext cx="2837347" cy="432435"/>
            <a:chOff x="4542755" y="2221706"/>
            <a:chExt cx="2364455" cy="360362"/>
          </a:xfrm>
        </p:grpSpPr>
        <p:sp>
          <p:nvSpPr>
            <p:cNvPr id="14" name="矩形 13"/>
            <p:cNvSpPr/>
            <p:nvPr/>
          </p:nvSpPr>
          <p:spPr>
            <a:xfrm>
              <a:off x="4869779" y="2240756"/>
              <a:ext cx="2037431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>
                <a:lnSpc>
                  <a:spcPct val="120000"/>
                </a:lnSpc>
              </a:pP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12"/>
              </p:custDataLst>
            </p:nvPr>
          </p:nvSpPr>
          <p:spPr>
            <a:xfrm>
              <a:off x="4542755" y="2221706"/>
              <a:ext cx="360362" cy="360362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7393579" y="3856709"/>
            <a:ext cx="201168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数据存储方案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>
            <p:custDataLst>
              <p:tags r:id="rId14"/>
            </p:custDataLst>
          </p:nvPr>
        </p:nvGrpSpPr>
        <p:grpSpPr>
          <a:xfrm>
            <a:off x="6506631" y="4796063"/>
            <a:ext cx="2837347" cy="432435"/>
            <a:chOff x="4542755" y="2221706"/>
            <a:chExt cx="2364455" cy="360362"/>
          </a:xfrm>
        </p:grpSpPr>
        <p:sp>
          <p:nvSpPr>
            <p:cNvPr id="55" name="矩形 54"/>
            <p:cNvSpPr/>
            <p:nvPr/>
          </p:nvSpPr>
          <p:spPr>
            <a:xfrm>
              <a:off x="4869779" y="2240756"/>
              <a:ext cx="2037431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>
                <a:lnSpc>
                  <a:spcPct val="120000"/>
                </a:lnSpc>
              </a:pP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>
              <p:custDataLst>
                <p:tags r:id="rId15"/>
              </p:custDataLst>
            </p:nvPr>
          </p:nvSpPr>
          <p:spPr>
            <a:xfrm>
              <a:off x="4542755" y="2221706"/>
              <a:ext cx="360362" cy="360362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文本框 56"/>
          <p:cNvSpPr txBox="1"/>
          <p:nvPr>
            <p:custDataLst>
              <p:tags r:id="rId16"/>
            </p:custDataLst>
          </p:nvPr>
        </p:nvSpPr>
        <p:spPr>
          <a:xfrm>
            <a:off x="7418979" y="4714594"/>
            <a:ext cx="242633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Scrapy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框架重构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8500"/>
    </mc:Choice>
    <mc:Fallback>
      <p:transition spd="slow" advClick="0" advTm="85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 rot="16200000">
            <a:off x="3559939" y="1870714"/>
            <a:ext cx="3901440" cy="2726055"/>
          </a:xfrm>
          <a:custGeom>
            <a:avLst/>
            <a:gdLst>
              <a:gd name="connsiteX0" fmla="*/ 1030079 w 2883578"/>
              <a:gd name="connsiteY0" fmla="*/ 0 h 2418446"/>
              <a:gd name="connsiteX1" fmla="*/ 1053716 w 2883578"/>
              <a:gd name="connsiteY1" fmla="*/ 43547 h 2418446"/>
              <a:gd name="connsiteX2" fmla="*/ 1441789 w 2883578"/>
              <a:gd name="connsiteY2" fmla="*/ 249884 h 2418446"/>
              <a:gd name="connsiteX3" fmla="*/ 1829862 w 2883578"/>
              <a:gd name="connsiteY3" fmla="*/ 43547 h 2418446"/>
              <a:gd name="connsiteX4" fmla="*/ 1853499 w 2883578"/>
              <a:gd name="connsiteY4" fmla="*/ 0 h 2418446"/>
              <a:gd name="connsiteX5" fmla="*/ 2883578 w 2883578"/>
              <a:gd name="connsiteY5" fmla="*/ 2418446 h 2418446"/>
              <a:gd name="connsiteX6" fmla="*/ 0 w 2883578"/>
              <a:gd name="connsiteY6" fmla="*/ 2418446 h 241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3578" h="2418446">
                <a:moveTo>
                  <a:pt x="1030079" y="0"/>
                </a:moveTo>
                <a:lnTo>
                  <a:pt x="1053716" y="43547"/>
                </a:lnTo>
                <a:cubicBezTo>
                  <a:pt x="1137819" y="168036"/>
                  <a:pt x="1280246" y="249884"/>
                  <a:pt x="1441789" y="249884"/>
                </a:cubicBezTo>
                <a:cubicBezTo>
                  <a:pt x="1603332" y="249884"/>
                  <a:pt x="1745759" y="168036"/>
                  <a:pt x="1829862" y="43547"/>
                </a:cubicBezTo>
                <a:lnTo>
                  <a:pt x="1853499" y="0"/>
                </a:lnTo>
                <a:lnTo>
                  <a:pt x="2883578" y="2418446"/>
                </a:lnTo>
                <a:lnTo>
                  <a:pt x="0" y="2418446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</a:schemeClr>
              </a:gs>
              <a:gs pos="100000">
                <a:sysClr val="window" lastClr="FFFFFF">
                  <a:alpha val="0"/>
                </a:sys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950171" tIns="54851" rIns="950171" bIns="54851" anchor="ctr"/>
          <a:lstStyle/>
          <a:p>
            <a:pPr algn="ctr" defTabSz="1097280">
              <a:lnSpc>
                <a:spcPct val="130000"/>
              </a:lnSpc>
              <a:defRPr/>
            </a:pPr>
            <a:endParaRPr lang="zh-CN" altLang="en-US" sz="2160" kern="0" dirty="0">
              <a:solidFill>
                <a:prstClr val="black">
                  <a:lumMod val="50000"/>
                  <a:lumOff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81233" y="1261971"/>
            <a:ext cx="3370679" cy="432436"/>
            <a:chOff x="4542755" y="1051718"/>
            <a:chExt cx="2808899" cy="360363"/>
          </a:xfrm>
        </p:grpSpPr>
        <p:sp>
          <p:nvSpPr>
            <p:cNvPr id="4" name="矩形 3"/>
            <p:cNvSpPr/>
            <p:nvPr/>
          </p:nvSpPr>
          <p:spPr>
            <a:xfrm>
              <a:off x="4869780" y="1069181"/>
              <a:ext cx="2481874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/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2"/>
              </p:custDataLst>
            </p:nvPr>
          </p:nvSpPr>
          <p:spPr>
            <a:xfrm>
              <a:off x="4542755" y="1051718"/>
              <a:ext cx="360362" cy="360363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>
                <a:defRPr/>
              </a:pPr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6481233" y="2140652"/>
            <a:ext cx="3370679" cy="430531"/>
            <a:chOff x="4542755" y="1637506"/>
            <a:chExt cx="2808899" cy="358775"/>
          </a:xfrm>
        </p:grpSpPr>
        <p:sp>
          <p:nvSpPr>
            <p:cNvPr id="7" name="矩形 6"/>
            <p:cNvSpPr/>
            <p:nvPr/>
          </p:nvSpPr>
          <p:spPr>
            <a:xfrm>
              <a:off x="4869780" y="1654968"/>
              <a:ext cx="2481874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/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4"/>
              </p:custDataLst>
            </p:nvPr>
          </p:nvSpPr>
          <p:spPr>
            <a:xfrm>
              <a:off x="4542755" y="1637506"/>
              <a:ext cx="360362" cy="358775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6481231" y="3017428"/>
            <a:ext cx="2837347" cy="432435"/>
            <a:chOff x="4542755" y="2221706"/>
            <a:chExt cx="2364455" cy="360362"/>
          </a:xfrm>
        </p:grpSpPr>
        <p:sp>
          <p:nvSpPr>
            <p:cNvPr id="10" name="矩形 9"/>
            <p:cNvSpPr/>
            <p:nvPr/>
          </p:nvSpPr>
          <p:spPr>
            <a:xfrm>
              <a:off x="4869779" y="2240756"/>
              <a:ext cx="2037431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>
                <a:lnSpc>
                  <a:spcPct val="120000"/>
                </a:lnSpc>
              </a:pP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椭圆 10"/>
            <p:cNvSpPr/>
            <p:nvPr>
              <p:custDataLst>
                <p:tags r:id="rId6"/>
              </p:custDataLst>
            </p:nvPr>
          </p:nvSpPr>
          <p:spPr>
            <a:xfrm>
              <a:off x="4542755" y="2221706"/>
              <a:ext cx="360362" cy="360362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en-US" altLang="zh-CN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09600" y="2224947"/>
            <a:ext cx="4708715" cy="1929956"/>
            <a:chOff x="0" y="1996995"/>
            <a:chExt cx="3923928" cy="1608297"/>
          </a:xfrm>
        </p:grpSpPr>
        <p:sp>
          <p:nvSpPr>
            <p:cNvPr id="22" name="矩形 21"/>
            <p:cNvSpPr/>
            <p:nvPr/>
          </p:nvSpPr>
          <p:spPr>
            <a:xfrm>
              <a:off x="0" y="2095384"/>
              <a:ext cx="2948360" cy="1461600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2317378" y="1996995"/>
              <a:ext cx="1606550" cy="1608297"/>
            </a:xfrm>
            <a:prstGeom prst="ellipse">
              <a:avLst/>
            </a:prstGeom>
            <a:solidFill>
              <a:schemeClr val="bg1"/>
            </a:solidFill>
            <a:ln w="762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>
                <a:lnSpc>
                  <a:spcPct val="130000"/>
                </a:lnSpc>
                <a:defRPr/>
              </a:pPr>
              <a:endParaRPr lang="zh-CN" altLang="en-US" sz="2880" b="1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-1" y="6523012"/>
            <a:ext cx="12192001" cy="362511"/>
            <a:chOff x="-480925" y="5435830"/>
            <a:chExt cx="9618457" cy="302092"/>
          </a:xfrm>
          <a:solidFill>
            <a:schemeClr val="tx2">
              <a:lumMod val="75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-480925" y="5435830"/>
              <a:ext cx="2322547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5471931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23977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47954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7295909" y="5435836"/>
              <a:ext cx="1841623" cy="3020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097280"/>
              <a:endParaRPr lang="zh-CN" altLang="en-US" sz="216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1060126" y="2912928"/>
            <a:ext cx="1680281" cy="997170"/>
          </a:xfrm>
          <a:prstGeom prst="rect">
            <a:avLst/>
          </a:prstGeom>
        </p:spPr>
        <p:txBody>
          <a:bodyPr wrap="none" lIns="109703" tIns="54851" rIns="109703" bIns="54851">
            <a:spAutoFit/>
          </a:bodyPr>
          <a:lstStyle/>
          <a:p>
            <a:pPr algn="ctr" defTabSz="822960"/>
            <a:r>
              <a:rPr lang="zh-CN" altLang="en-US" sz="288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88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22960"/>
            <a:r>
              <a:rPr lang="en-US" altLang="zh-CN" sz="288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contens</a:t>
            </a:r>
            <a:endParaRPr lang="en-US" altLang="zh-CN" sz="288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066" y="2102782"/>
            <a:ext cx="2100869" cy="2100869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7391151" y="1239691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数据分析与可视化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7391151" y="2045538"/>
            <a:ext cx="362648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反爬虫、优化与工程实践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7393579" y="2935959"/>
            <a:ext cx="210248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项目成果展示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>
            <p:custDataLst>
              <p:tags r:id="rId11"/>
            </p:custDataLst>
          </p:nvPr>
        </p:nvGrpSpPr>
        <p:grpSpPr>
          <a:xfrm>
            <a:off x="6481231" y="3938178"/>
            <a:ext cx="2837347" cy="432435"/>
            <a:chOff x="4542755" y="2221706"/>
            <a:chExt cx="2364455" cy="360362"/>
          </a:xfrm>
        </p:grpSpPr>
        <p:sp>
          <p:nvSpPr>
            <p:cNvPr id="14" name="矩形 13"/>
            <p:cNvSpPr/>
            <p:nvPr/>
          </p:nvSpPr>
          <p:spPr>
            <a:xfrm>
              <a:off x="4869779" y="2240756"/>
              <a:ext cx="2037431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>
                <a:lnSpc>
                  <a:spcPct val="120000"/>
                </a:lnSpc>
              </a:pP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>
              <p:custDataLst>
                <p:tags r:id="rId12"/>
              </p:custDataLst>
            </p:nvPr>
          </p:nvSpPr>
          <p:spPr>
            <a:xfrm>
              <a:off x="4542755" y="2221706"/>
              <a:ext cx="360362" cy="360362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216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  <a:endParaRPr lang="en-US" altLang="zh-CN" sz="216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7393579" y="3856709"/>
            <a:ext cx="149288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团队分工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4" name="组合 53"/>
          <p:cNvGrpSpPr/>
          <p:nvPr>
            <p:custDataLst>
              <p:tags r:id="rId14"/>
            </p:custDataLst>
          </p:nvPr>
        </p:nvGrpSpPr>
        <p:grpSpPr>
          <a:xfrm>
            <a:off x="6480596" y="4724308"/>
            <a:ext cx="2863382" cy="504190"/>
            <a:chOff x="4521059" y="2161910"/>
            <a:chExt cx="2386151" cy="420158"/>
          </a:xfrm>
        </p:grpSpPr>
        <p:sp>
          <p:nvSpPr>
            <p:cNvPr id="55" name="矩形 54"/>
            <p:cNvSpPr/>
            <p:nvPr/>
          </p:nvSpPr>
          <p:spPr>
            <a:xfrm>
              <a:off x="4869779" y="2240756"/>
              <a:ext cx="2037431" cy="32385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defTabSz="1097280">
                <a:lnSpc>
                  <a:spcPct val="120000"/>
                </a:lnSpc>
              </a:pP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椭圆 55"/>
            <p:cNvSpPr/>
            <p:nvPr>
              <p:custDataLst>
                <p:tags r:id="rId15"/>
              </p:custDataLst>
            </p:nvPr>
          </p:nvSpPr>
          <p:spPr>
            <a:xfrm>
              <a:off x="4521059" y="2161910"/>
              <a:ext cx="428096" cy="42015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381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1097280"/>
              <a:r>
                <a:rPr lang="en-US" altLang="zh-CN" sz="1200" kern="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en-US" altLang="zh-CN" sz="12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文本框 56"/>
          <p:cNvSpPr txBox="1"/>
          <p:nvPr>
            <p:custDataLst>
              <p:tags r:id="rId16"/>
            </p:custDataLst>
          </p:nvPr>
        </p:nvSpPr>
        <p:spPr>
          <a:xfrm>
            <a:off x="7418979" y="4714594"/>
            <a:ext cx="170688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097280">
              <a:lnSpc>
                <a:spcPct val="1200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8500"/>
    </mc:Choice>
    <mc:Fallback>
      <p:transition spd="slow" advClick="0" advTm="85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/>
        </p:nvPicPr>
        <p:blipFill>
          <a:blip r:embed="rId1"/>
          <a:srcRect b="9177"/>
          <a:stretch>
            <a:fillRect/>
          </a:stretch>
        </p:blipFill>
        <p:spPr>
          <a:xfrm>
            <a:off x="-69215" y="635"/>
            <a:ext cx="12261215" cy="6857365"/>
          </a:xfrm>
          <a:prstGeom prst="rect">
            <a:avLst/>
          </a:prstGeom>
        </p:spPr>
      </p:pic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096622" y="3115050"/>
            <a:ext cx="4823098" cy="1432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zh-CN" altLang="en-US" sz="3800" b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OPPOSans H" panose="00020600040101010101" charset="-122"/>
              </a:rPr>
              <a:t>项目概述</a:t>
            </a:r>
            <a:endParaRPr kumimoji="1" lang="zh-CN" altLang="en-US" sz="3800" b="1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OPPOSans H" panose="00020600040101010101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473258" y="-742949"/>
            <a:ext cx="2584642" cy="40233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0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01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1965" y="644525"/>
            <a:ext cx="11187430" cy="442595"/>
          </a:xfrm>
        </p:spPr>
        <p:txBody>
          <a:bodyPr/>
          <a:lstStyle/>
          <a:p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2"/>
            </p:custDataLst>
          </p:nvPr>
        </p:nvSpPr>
        <p:spPr>
          <a:xfrm>
            <a:off x="1171757" y="4040344"/>
            <a:ext cx="9848488" cy="2006368"/>
          </a:xfrm>
          <a:custGeom>
            <a:avLst/>
            <a:gdLst>
              <a:gd name="connsiteX0" fmla="*/ 4924244 w 9848488"/>
              <a:gd name="connsiteY0" fmla="*/ 0 h 2006368"/>
              <a:gd name="connsiteX1" fmla="*/ 9775437 w 9848488"/>
              <a:gd name="connsiteY1" fmla="*/ 1858432 h 2006368"/>
              <a:gd name="connsiteX2" fmla="*/ 9848488 w 9848488"/>
              <a:gd name="connsiteY2" fmla="*/ 2006368 h 2006368"/>
              <a:gd name="connsiteX3" fmla="*/ 0 w 9848488"/>
              <a:gd name="connsiteY3" fmla="*/ 2006368 h 2006368"/>
              <a:gd name="connsiteX4" fmla="*/ 73051 w 9848488"/>
              <a:gd name="connsiteY4" fmla="*/ 1858432 h 2006368"/>
              <a:gd name="connsiteX5" fmla="*/ 4924244 w 9848488"/>
              <a:gd name="connsiteY5" fmla="*/ 0 h 20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8488" h="2006368">
                <a:moveTo>
                  <a:pt x="4924244" y="0"/>
                </a:moveTo>
                <a:cubicBezTo>
                  <a:pt x="7203603" y="0"/>
                  <a:pt x="9132307" y="781751"/>
                  <a:pt x="9775437" y="1858432"/>
                </a:cubicBezTo>
                <a:lnTo>
                  <a:pt x="9848488" y="2006368"/>
                </a:lnTo>
                <a:lnTo>
                  <a:pt x="0" y="2006368"/>
                </a:lnTo>
                <a:lnTo>
                  <a:pt x="73051" y="1858432"/>
                </a:lnTo>
                <a:cubicBezTo>
                  <a:pt x="716182" y="781751"/>
                  <a:pt x="2644886" y="0"/>
                  <a:pt x="492424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/>
                </a:gs>
                <a:gs pos="87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>
            <p:custDataLst>
              <p:tags r:id="rId3"/>
            </p:custDataLst>
          </p:nvPr>
        </p:nvSpPr>
        <p:spPr>
          <a:xfrm>
            <a:off x="5716906" y="5345264"/>
            <a:ext cx="808347" cy="409216"/>
          </a:xfrm>
          <a:custGeom>
            <a:avLst/>
            <a:gdLst>
              <a:gd name="connsiteX0" fmla="*/ 1450658 w 1450657"/>
              <a:gd name="connsiteY0" fmla="*/ 523875 h 734377"/>
              <a:gd name="connsiteX1" fmla="*/ 161925 w 1450657"/>
              <a:gd name="connsiteY1" fmla="*/ 734377 h 734377"/>
              <a:gd name="connsiteX2" fmla="*/ 0 w 1450657"/>
              <a:gd name="connsiteY2" fmla="*/ 0 h 734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657" h="734377">
                <a:moveTo>
                  <a:pt x="1450658" y="523875"/>
                </a:moveTo>
                <a:lnTo>
                  <a:pt x="161925" y="734377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78000"/>
                  <a:lumOff val="22000"/>
                </a:schemeClr>
              </a:gs>
              <a:gs pos="78000">
                <a:schemeClr val="accent1">
                  <a:lumMod val="91000"/>
                </a:schemeClr>
              </a:gs>
            </a:gsLst>
            <a:lin ang="16200000" scaled="0"/>
          </a:gradFill>
          <a:ln w="483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5277437" y="5072984"/>
            <a:ext cx="529699" cy="681496"/>
          </a:xfrm>
          <a:custGeom>
            <a:avLst/>
            <a:gdLst>
              <a:gd name="connsiteX0" fmla="*/ 0 w 950595"/>
              <a:gd name="connsiteY0" fmla="*/ 0 h 1223009"/>
              <a:gd name="connsiteX1" fmla="*/ 788670 w 950595"/>
              <a:gd name="connsiteY1" fmla="*/ 488633 h 1223009"/>
              <a:gd name="connsiteX2" fmla="*/ 950595 w 950595"/>
              <a:gd name="connsiteY2" fmla="*/ 1223010 h 1223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595" h="1223009">
                <a:moveTo>
                  <a:pt x="0" y="0"/>
                </a:moveTo>
                <a:lnTo>
                  <a:pt x="788670" y="488633"/>
                </a:lnTo>
                <a:lnTo>
                  <a:pt x="950595" y="1223010"/>
                </a:lnTo>
                <a:close/>
              </a:path>
            </a:pathLst>
          </a:custGeom>
          <a:gradFill>
            <a:gsLst>
              <a:gs pos="19000">
                <a:schemeClr val="accent1">
                  <a:lumMod val="60000"/>
                  <a:lumOff val="40000"/>
                </a:schemeClr>
              </a:gs>
              <a:gs pos="92000">
                <a:schemeClr val="accent1"/>
              </a:gs>
            </a:gsLst>
            <a:lin ang="0" scaled="0"/>
          </a:gradFill>
          <a:ln w="483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277437" y="4441910"/>
            <a:ext cx="439469" cy="903353"/>
          </a:xfrm>
          <a:custGeom>
            <a:avLst/>
            <a:gdLst>
              <a:gd name="connsiteX0" fmla="*/ 0 w 788670"/>
              <a:gd name="connsiteY0" fmla="*/ 1132523 h 1621155"/>
              <a:gd name="connsiteX1" fmla="*/ 619125 w 788670"/>
              <a:gd name="connsiteY1" fmla="*/ 0 h 1621155"/>
              <a:gd name="connsiteX2" fmla="*/ 788670 w 788670"/>
              <a:gd name="connsiteY2" fmla="*/ 1621155 h 162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8670" h="1621155">
                <a:moveTo>
                  <a:pt x="0" y="1132523"/>
                </a:moveTo>
                <a:lnTo>
                  <a:pt x="619125" y="0"/>
                </a:lnTo>
                <a:lnTo>
                  <a:pt x="788670" y="1621155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  <a:lumOff val="50000"/>
                </a:schemeClr>
              </a:gs>
              <a:gs pos="100000">
                <a:schemeClr val="accent1">
                  <a:lumMod val="86000"/>
                  <a:lumOff val="14000"/>
                </a:schemeClr>
              </a:gs>
            </a:gsLst>
            <a:lin ang="600000" scaled="0"/>
          </a:gradFill>
          <a:ln w="48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5716906" y="4774697"/>
            <a:ext cx="808347" cy="862485"/>
          </a:xfrm>
          <a:custGeom>
            <a:avLst/>
            <a:gdLst>
              <a:gd name="connsiteX0" fmla="*/ 1385888 w 1450657"/>
              <a:gd name="connsiteY0" fmla="*/ 0 h 1547812"/>
              <a:gd name="connsiteX1" fmla="*/ 1450658 w 1450657"/>
              <a:gd name="connsiteY1" fmla="*/ 1547812 h 1547812"/>
              <a:gd name="connsiteX2" fmla="*/ 0 w 1450657"/>
              <a:gd name="connsiteY2" fmla="*/ 1023938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657" h="1547812">
                <a:moveTo>
                  <a:pt x="1385888" y="0"/>
                </a:moveTo>
                <a:lnTo>
                  <a:pt x="1450658" y="1547812"/>
                </a:lnTo>
                <a:lnTo>
                  <a:pt x="0" y="1023938"/>
                </a:lnTo>
                <a:close/>
              </a:path>
            </a:pathLst>
          </a:custGeom>
          <a:gradFill flip="none" rotWithShape="1">
            <a:gsLst>
              <a:gs pos="36000">
                <a:schemeClr val="accent1">
                  <a:lumMod val="75000"/>
                </a:schemeClr>
              </a:gs>
              <a:gs pos="100000">
                <a:schemeClr val="accent1">
                  <a:lumMod val="70000"/>
                  <a:lumOff val="30000"/>
                </a:schemeClr>
              </a:gs>
            </a:gsLst>
            <a:lin ang="1800000" scaled="0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>
            <p:custDataLst>
              <p:tags r:id="rId7"/>
            </p:custDataLst>
          </p:nvPr>
        </p:nvSpPr>
        <p:spPr>
          <a:xfrm>
            <a:off x="6405832" y="4234383"/>
            <a:ext cx="513775" cy="702726"/>
          </a:xfrm>
          <a:custGeom>
            <a:avLst/>
            <a:gdLst>
              <a:gd name="connsiteX0" fmla="*/ 149542 w 922019"/>
              <a:gd name="connsiteY0" fmla="*/ 969645 h 1261109"/>
              <a:gd name="connsiteX1" fmla="*/ 0 w 922019"/>
              <a:gd name="connsiteY1" fmla="*/ 0 h 1261109"/>
              <a:gd name="connsiteX2" fmla="*/ 922020 w 922019"/>
              <a:gd name="connsiteY2" fmla="*/ 1261110 h 126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2019" h="1261109">
                <a:moveTo>
                  <a:pt x="149542" y="969645"/>
                </a:moveTo>
                <a:lnTo>
                  <a:pt x="0" y="0"/>
                </a:lnTo>
                <a:lnTo>
                  <a:pt x="922020" y="1261110"/>
                </a:lnTo>
                <a:close/>
              </a:path>
            </a:pathLst>
          </a:custGeom>
          <a:gradFill>
            <a:gsLst>
              <a:gs pos="1000">
                <a:schemeClr val="accent1">
                  <a:lumMod val="60000"/>
                  <a:lumOff val="40000"/>
                </a:schemeClr>
              </a:gs>
              <a:gs pos="92000">
                <a:schemeClr val="accent1"/>
              </a:gs>
            </a:gsLst>
            <a:lin ang="9600000" scaled="0"/>
          </a:gradFill>
          <a:ln w="48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8"/>
            </p:custDataLst>
          </p:nvPr>
        </p:nvSpPr>
        <p:spPr>
          <a:xfrm>
            <a:off x="6489161" y="4774697"/>
            <a:ext cx="430446" cy="862485"/>
          </a:xfrm>
          <a:custGeom>
            <a:avLst/>
            <a:gdLst>
              <a:gd name="connsiteX0" fmla="*/ 0 w 772477"/>
              <a:gd name="connsiteY0" fmla="*/ 0 h 1547812"/>
              <a:gd name="connsiteX1" fmla="*/ 772477 w 772477"/>
              <a:gd name="connsiteY1" fmla="*/ 291465 h 1547812"/>
              <a:gd name="connsiteX2" fmla="*/ 64770 w 772477"/>
              <a:gd name="connsiteY2" fmla="*/ 1547812 h 1547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477" h="1547812">
                <a:moveTo>
                  <a:pt x="0" y="0"/>
                </a:moveTo>
                <a:lnTo>
                  <a:pt x="772477" y="291465"/>
                </a:lnTo>
                <a:lnTo>
                  <a:pt x="64770" y="1547812"/>
                </a:lnTo>
                <a:close/>
              </a:path>
            </a:pathLst>
          </a:custGeom>
          <a:gradFill>
            <a:gsLst>
              <a:gs pos="28000">
                <a:schemeClr val="accent1">
                  <a:lumMod val="75000"/>
                </a:schemeClr>
              </a:gs>
              <a:gs pos="100000">
                <a:schemeClr val="accent1">
                  <a:lumMod val="70000"/>
                  <a:lumOff val="30000"/>
                </a:schemeClr>
              </a:gs>
            </a:gsLst>
            <a:lin ang="21594000" scaled="0"/>
          </a:gradFill>
          <a:ln w="48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9"/>
            </p:custDataLst>
          </p:nvPr>
        </p:nvSpPr>
        <p:spPr>
          <a:xfrm>
            <a:off x="5622431" y="4234383"/>
            <a:ext cx="866730" cy="540314"/>
          </a:xfrm>
          <a:custGeom>
            <a:avLst/>
            <a:gdLst>
              <a:gd name="connsiteX0" fmla="*/ 0 w 1555432"/>
              <a:gd name="connsiteY0" fmla="*/ 372428 h 969645"/>
              <a:gd name="connsiteX1" fmla="*/ 1405890 w 1555432"/>
              <a:gd name="connsiteY1" fmla="*/ 0 h 969645"/>
              <a:gd name="connsiteX2" fmla="*/ 1555433 w 1555432"/>
              <a:gd name="connsiteY2" fmla="*/ 969645 h 96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432" h="969645">
                <a:moveTo>
                  <a:pt x="0" y="372428"/>
                </a:moveTo>
                <a:lnTo>
                  <a:pt x="1405890" y="0"/>
                </a:lnTo>
                <a:lnTo>
                  <a:pt x="1555433" y="96964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5000"/>
                  <a:lumOff val="45000"/>
                </a:schemeClr>
              </a:gs>
              <a:gs pos="100000">
                <a:schemeClr val="accent1"/>
              </a:gs>
            </a:gsLst>
            <a:lin ang="7200000" scaled="0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>
            <p:custDataLst>
              <p:tags r:id="rId10"/>
            </p:custDataLst>
          </p:nvPr>
        </p:nvSpPr>
        <p:spPr>
          <a:xfrm>
            <a:off x="5622431" y="4441910"/>
            <a:ext cx="866730" cy="903353"/>
          </a:xfrm>
          <a:custGeom>
            <a:avLst/>
            <a:gdLst>
              <a:gd name="connsiteX0" fmla="*/ 0 w 1555432"/>
              <a:gd name="connsiteY0" fmla="*/ 0 h 1621155"/>
              <a:gd name="connsiteX1" fmla="*/ 1555433 w 1555432"/>
              <a:gd name="connsiteY1" fmla="*/ 597218 h 1621155"/>
              <a:gd name="connsiteX2" fmla="*/ 169545 w 1555432"/>
              <a:gd name="connsiteY2" fmla="*/ 1621155 h 162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432" h="1621155">
                <a:moveTo>
                  <a:pt x="0" y="0"/>
                </a:moveTo>
                <a:lnTo>
                  <a:pt x="1555433" y="597218"/>
                </a:lnTo>
                <a:lnTo>
                  <a:pt x="169545" y="1621155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36000"/>
                  <a:lumOff val="64000"/>
                </a:schemeClr>
              </a:gs>
              <a:gs pos="100000">
                <a:schemeClr val="accent1">
                  <a:lumMod val="77000"/>
                  <a:lumOff val="23000"/>
                </a:schemeClr>
              </a:gs>
            </a:gsLst>
            <a:lin ang="2700000" scaled="1"/>
            <a:tileRect/>
          </a:gradFill>
          <a:ln w="4833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11"/>
            </p:custDataLst>
          </p:nvPr>
        </p:nvSpPr>
        <p:spPr>
          <a:xfrm rot="20464926">
            <a:off x="4722197" y="4748126"/>
            <a:ext cx="2828015" cy="590804"/>
          </a:xfrm>
          <a:prstGeom prst="ellipse">
            <a:avLst/>
          </a:prstGeom>
          <a:noFill/>
          <a:ln w="9525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12"/>
            </p:custDataLst>
          </p:nvPr>
        </p:nvSpPr>
        <p:spPr>
          <a:xfrm rot="997938">
            <a:off x="4832934" y="4748126"/>
            <a:ext cx="2606541" cy="590804"/>
          </a:xfrm>
          <a:prstGeom prst="ellipse">
            <a:avLst/>
          </a:prstGeom>
          <a:noFill/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>
            <p:custDataLst>
              <p:tags r:id="rId13"/>
            </p:custDataLst>
          </p:nvPr>
        </p:nvSpPr>
        <p:spPr>
          <a:xfrm rot="19668910">
            <a:off x="4641788" y="4748126"/>
            <a:ext cx="2828015" cy="590804"/>
          </a:xfrm>
          <a:prstGeom prst="ellipse">
            <a:avLst/>
          </a:prstGeom>
          <a:noFill/>
          <a:ln w="19050">
            <a:gradFill flip="none" rotWithShape="1">
              <a:gsLst>
                <a:gs pos="1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>
            <p:custDataLst>
              <p:tags r:id="rId14"/>
            </p:custDataLst>
          </p:nvPr>
        </p:nvSpPr>
        <p:spPr>
          <a:xfrm>
            <a:off x="6964721" y="4933269"/>
            <a:ext cx="110257" cy="110257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5"/>
            </p:custDataLst>
          </p:nvPr>
        </p:nvSpPr>
        <p:spPr>
          <a:xfrm>
            <a:off x="6336854" y="5347325"/>
            <a:ext cx="110257" cy="110257"/>
          </a:xfrm>
          <a:prstGeom prst="ellipse">
            <a:avLst/>
          </a:prstGeom>
          <a:gradFill flip="none" rotWithShape="1">
            <a:gsLst>
              <a:gs pos="1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>
            <p:custDataLst>
              <p:tags r:id="rId16"/>
            </p:custDataLst>
          </p:nvPr>
        </p:nvSpPr>
        <p:spPr>
          <a:xfrm>
            <a:off x="1034612" y="3823731"/>
            <a:ext cx="10122776" cy="2006368"/>
          </a:xfrm>
          <a:custGeom>
            <a:avLst/>
            <a:gdLst>
              <a:gd name="connsiteX0" fmla="*/ 4924244 w 9848488"/>
              <a:gd name="connsiteY0" fmla="*/ 0 h 2006368"/>
              <a:gd name="connsiteX1" fmla="*/ 9775437 w 9848488"/>
              <a:gd name="connsiteY1" fmla="*/ 1858432 h 2006368"/>
              <a:gd name="connsiteX2" fmla="*/ 9848488 w 9848488"/>
              <a:gd name="connsiteY2" fmla="*/ 2006368 h 2006368"/>
              <a:gd name="connsiteX3" fmla="*/ 0 w 9848488"/>
              <a:gd name="connsiteY3" fmla="*/ 2006368 h 2006368"/>
              <a:gd name="connsiteX4" fmla="*/ 73051 w 9848488"/>
              <a:gd name="connsiteY4" fmla="*/ 1858432 h 2006368"/>
              <a:gd name="connsiteX5" fmla="*/ 4924244 w 9848488"/>
              <a:gd name="connsiteY5" fmla="*/ 0 h 2006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8488" h="2006368">
                <a:moveTo>
                  <a:pt x="4924244" y="0"/>
                </a:moveTo>
                <a:cubicBezTo>
                  <a:pt x="7203603" y="0"/>
                  <a:pt x="9132307" y="781751"/>
                  <a:pt x="9775437" y="1858432"/>
                </a:cubicBezTo>
                <a:lnTo>
                  <a:pt x="9848488" y="2006368"/>
                </a:lnTo>
                <a:lnTo>
                  <a:pt x="0" y="2006368"/>
                </a:lnTo>
                <a:lnTo>
                  <a:pt x="73051" y="1858432"/>
                </a:lnTo>
                <a:cubicBezTo>
                  <a:pt x="716182" y="781751"/>
                  <a:pt x="2644886" y="0"/>
                  <a:pt x="4924244" y="0"/>
                </a:cubicBezTo>
                <a:close/>
              </a:path>
            </a:pathLst>
          </a:custGeom>
          <a:noFill/>
          <a:ln w="15875"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2000">
                  <a:schemeClr val="accent1">
                    <a:alpha val="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>
            <p:custDataLst>
              <p:tags r:id="rId17"/>
            </p:custDataLst>
          </p:nvPr>
        </p:nvSpPr>
        <p:spPr>
          <a:xfrm>
            <a:off x="2368988" y="4512093"/>
            <a:ext cx="146385" cy="146385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>
            <p:custDataLst>
              <p:tags r:id="rId18"/>
            </p:custDataLst>
          </p:nvPr>
        </p:nvSpPr>
        <p:spPr>
          <a:xfrm>
            <a:off x="2396958" y="4540063"/>
            <a:ext cx="90445" cy="90445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9"/>
            </p:custDataLst>
          </p:nvPr>
        </p:nvSpPr>
        <p:spPr>
          <a:xfrm>
            <a:off x="966470" y="1516380"/>
            <a:ext cx="2952750" cy="6489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豆瓣电影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Top250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是什么？   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国内最权威的电影评分榜单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收录250部高分电影        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包含丰富的电影信息和用户评论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2. 为什么选择这个项目？         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数据源公开且质量高        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涵盖静态页面和动态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JS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加载两种场景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数据具有很高的分析价值 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项目意义                   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Web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爬虫技术                                     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掌握数据存储与分析方法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                      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20"/>
            </p:custDataLst>
          </p:nvPr>
        </p:nvSpPr>
        <p:spPr>
          <a:xfrm>
            <a:off x="966470" y="1116330"/>
            <a:ext cx="295275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项目背景与意义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83" name="直接连接符 82"/>
          <p:cNvCxnSpPr/>
          <p:nvPr>
            <p:custDataLst>
              <p:tags r:id="rId21"/>
            </p:custDataLst>
          </p:nvPr>
        </p:nvCxnSpPr>
        <p:spPr>
          <a:xfrm flipV="1">
            <a:off x="2443485" y="3862839"/>
            <a:ext cx="0" cy="649254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椭圆 93"/>
          <p:cNvSpPr/>
          <p:nvPr>
            <p:custDataLst>
              <p:tags r:id="rId22"/>
            </p:custDataLst>
          </p:nvPr>
        </p:nvSpPr>
        <p:spPr>
          <a:xfrm>
            <a:off x="9891260" y="4630203"/>
            <a:ext cx="146385" cy="146385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>
            <p:custDataLst>
              <p:tags r:id="rId23"/>
            </p:custDataLst>
          </p:nvPr>
        </p:nvSpPr>
        <p:spPr>
          <a:xfrm>
            <a:off x="9919230" y="4658173"/>
            <a:ext cx="90445" cy="90445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24"/>
            </p:custDataLst>
          </p:nvPr>
        </p:nvSpPr>
        <p:spPr>
          <a:xfrm>
            <a:off x="8355965" y="1514475"/>
            <a:ext cx="2952750" cy="6489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requests + BeautifulSoup：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入门友好，便于理解爬虫原理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 Selenium：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处理动态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JavaScript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页面的标准方案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 MySQL：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关系型数据库适合结构化数据存储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 Edge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浏览器：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Windows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环境兼容性最优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25"/>
            </p:custDataLst>
          </p:nvPr>
        </p:nvSpPr>
        <p:spPr>
          <a:xfrm>
            <a:off x="8355965" y="1146175"/>
            <a:ext cx="295275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技术选型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91" name="直接连接符 90"/>
          <p:cNvCxnSpPr/>
          <p:nvPr>
            <p:custDataLst>
              <p:tags r:id="rId26"/>
            </p:custDataLst>
          </p:nvPr>
        </p:nvCxnSpPr>
        <p:spPr>
          <a:xfrm flipV="1">
            <a:off x="9965757" y="3980949"/>
            <a:ext cx="0" cy="649254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3" name="椭圆 102"/>
          <p:cNvSpPr/>
          <p:nvPr>
            <p:custDataLst>
              <p:tags r:id="rId27"/>
            </p:custDataLst>
          </p:nvPr>
        </p:nvSpPr>
        <p:spPr>
          <a:xfrm>
            <a:off x="6022809" y="3734507"/>
            <a:ext cx="146385" cy="146385"/>
          </a:xfrm>
          <a:prstGeom prst="ellipse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  <a:effectLst>
            <a:outerShdw blurRad="63500" sx="102000" sy="102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/>
          <p:cNvSpPr/>
          <p:nvPr>
            <p:custDataLst>
              <p:tags r:id="rId28"/>
            </p:custDataLst>
          </p:nvPr>
        </p:nvSpPr>
        <p:spPr>
          <a:xfrm>
            <a:off x="6050779" y="3762477"/>
            <a:ext cx="90445" cy="90445"/>
          </a:xfrm>
          <a:prstGeom prst="ellipse">
            <a:avLst/>
          </a:prstGeom>
          <a:gradFill>
            <a:gsLst>
              <a:gs pos="1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29"/>
            </p:custDataLst>
          </p:nvPr>
        </p:nvSpPr>
        <p:spPr>
          <a:xfrm>
            <a:off x="4578985" y="1516380"/>
            <a:ext cx="2952750" cy="6489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模块1：基础爬取模块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模块2：进阶详情与动态爬取模块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模块3：数据存储与框架重构 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模块4：数据分析与可视化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模块5：反爬虫、优化与工程实践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                             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矩形 22"/>
          <p:cNvSpPr/>
          <p:nvPr>
            <p:custDataLst>
              <p:tags r:id="rId30"/>
            </p:custDataLst>
          </p:nvPr>
        </p:nvSpPr>
        <p:spPr>
          <a:xfrm>
            <a:off x="4578985" y="1148080"/>
            <a:ext cx="2952750" cy="3683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需求分析</a:t>
            </a:r>
            <a:endParaRPr lang="zh-CN" altLang="en-US" sz="2400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00" name="直接连接符 99"/>
          <p:cNvCxnSpPr/>
          <p:nvPr>
            <p:custDataLst>
              <p:tags r:id="rId31"/>
            </p:custDataLst>
          </p:nvPr>
        </p:nvCxnSpPr>
        <p:spPr>
          <a:xfrm flipV="1">
            <a:off x="6097306" y="3085253"/>
            <a:ext cx="0" cy="649254"/>
          </a:xfrm>
          <a:prstGeom prst="line">
            <a:avLst/>
          </a:prstGeom>
          <a:noFill/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4" name="图片 23" descr="logo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014" y="59"/>
            <a:ext cx="2381250" cy="571500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2487145" y="-116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</p:spTree>
    <p:custDataLst>
      <p:tags r:id="rId3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/>
        </p:nvPicPr>
        <p:blipFill>
          <a:blip r:embed="rId1"/>
          <a:srcRect b="9177"/>
          <a:stretch>
            <a:fillRect/>
          </a:stretch>
        </p:blipFill>
        <p:spPr>
          <a:xfrm>
            <a:off x="-69215" y="635"/>
            <a:ext cx="12261215" cy="6857365"/>
          </a:xfrm>
          <a:prstGeom prst="rect">
            <a:avLst/>
          </a:prstGeom>
        </p:spPr>
      </p:pic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014072" y="3153150"/>
            <a:ext cx="4823098" cy="1432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zh-CN" altLang="en-US" sz="3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基础爬取模块</a:t>
            </a:r>
            <a:endParaRPr kumimoji="1" lang="zh-CN" altLang="en-US" sz="3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473258" y="-742949"/>
            <a:ext cx="2584642" cy="40233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0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02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19100" y="848360"/>
            <a:ext cx="5405755" cy="442595"/>
          </a:xfrm>
        </p:spPr>
        <p:txBody>
          <a:bodyPr/>
          <a:lstStyle/>
          <a:p>
            <a:r>
              <a:rPr lang="zh-CN" altLang="en-US"/>
              <a:t>模块概述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5125" y="1237615"/>
            <a:ext cx="545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模块目标： 使用 </a:t>
            </a:r>
            <a:r>
              <a:rPr lang="en-US" altLang="zh-CN"/>
              <a:t>requests + BeautifulSoup </a:t>
            </a:r>
            <a:r>
              <a:rPr lang="zh-CN" altLang="en-US"/>
              <a:t>爬取豆瓣</a:t>
            </a:r>
            <a:r>
              <a:rPr lang="en-US" altLang="zh-CN"/>
              <a:t>Top250</a:t>
            </a:r>
            <a:r>
              <a:rPr lang="zh-CN" altLang="en-US"/>
              <a:t>全量列表页，提取：排名、标题（中英）、评分、评价人数、导演/主演、简介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9735" y="5353685"/>
            <a:ext cx="54051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基础爬取模块的目标是使用</a:t>
            </a:r>
            <a:r>
              <a:rPr lang="en-US" altLang="zh-CN"/>
              <a:t>requests+BeautifulSoup</a:t>
            </a:r>
            <a:r>
              <a:rPr lang="zh-CN" altLang="en-US"/>
              <a:t>爬取豆瓣</a:t>
            </a:r>
            <a:r>
              <a:rPr lang="en-US" altLang="zh-CN"/>
              <a:t>Top250</a:t>
            </a:r>
            <a:r>
              <a:rPr lang="zh-CN" altLang="en-US"/>
              <a:t>的全部10页列表。这个模块的工作流程是：首先构造分页</a:t>
            </a:r>
            <a:r>
              <a:rPr lang="en-US" altLang="zh-CN"/>
              <a:t>URL，</a:t>
            </a:r>
            <a:r>
              <a:rPr lang="zh-CN" altLang="en-US"/>
              <a:t>然后发送</a:t>
            </a:r>
            <a:r>
              <a:rPr lang="en-US" altLang="zh-CN"/>
              <a:t>HTTP</a:t>
            </a:r>
            <a:r>
              <a:rPr lang="zh-CN" altLang="en-US"/>
              <a:t>请求并处理异常，接着解析</a:t>
            </a:r>
            <a:r>
              <a:rPr lang="en-US" altLang="zh-CN"/>
              <a:t>HTML</a:t>
            </a:r>
            <a:r>
              <a:rPr lang="zh-CN" altLang="en-US"/>
              <a:t>提取数据，最后存储结果。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35" y="2240280"/>
            <a:ext cx="5405120" cy="3039745"/>
          </a:xfrm>
          <a:prstGeom prst="rect">
            <a:avLst/>
          </a:prstGeom>
        </p:spPr>
      </p:pic>
      <p:sp>
        <p:nvSpPr>
          <p:cNvPr id="7" name="标题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75680" y="403860"/>
            <a:ext cx="5796915" cy="442595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>
            <a:lvl1pPr algn="l" defTabSz="8559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60" kern="120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请求封装与反爬策略</a:t>
            </a:r>
            <a:endParaRPr lang="zh-CN" altLang="en-US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895" y="2785745"/>
            <a:ext cx="3340735" cy="40824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343390" y="2964815"/>
            <a:ext cx="2411095" cy="273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这是请求封装的核心代码。</a:t>
            </a:r>
            <a:r>
              <a:rPr lang="en-US" altLang="zh-CN"/>
              <a:t>get_page</a:t>
            </a:r>
            <a:r>
              <a:rPr lang="zh-CN" altLang="en-US"/>
              <a:t>函数实现了三大反爬策略：第一是随机</a:t>
            </a:r>
            <a:r>
              <a:rPr lang="en-US" altLang="zh-CN"/>
              <a:t>User-Agent，</a:t>
            </a:r>
            <a:r>
              <a:rPr lang="zh-CN" altLang="en-US"/>
              <a:t>每次请求使用不同的浏览器标识；第二是随机延时1-4秒，模拟人类访问节奏；第三是异常重试机制，超时等待3秒后重试，被拒绝时等待5秒后重试。这三个策略配合，大大降低了被封禁的风险。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895" y="767080"/>
            <a:ext cx="4688840" cy="2018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64" y="66734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36370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855345"/>
            <a:ext cx="5405755" cy="442595"/>
          </a:xfrm>
        </p:spPr>
        <p:txBody>
          <a:bodyPr/>
          <a:lstStyle/>
          <a:p>
            <a:r>
              <a:rPr lang="zh-CN" altLang="en-US"/>
              <a:t>智能分页——遍历10页列表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" y="3429000"/>
            <a:ext cx="4869815" cy="18434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4305" y="5323205"/>
            <a:ext cx="4937125" cy="1115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分页原理：豆瓣</a:t>
            </a:r>
            <a:r>
              <a:rPr lang="en-US" altLang="zh-CN"/>
              <a:t>Top250</a:t>
            </a:r>
            <a:r>
              <a:rPr lang="zh-CN" altLang="en-US"/>
              <a:t>每页显示25部电影，</a:t>
            </a:r>
            <a:r>
              <a:rPr lang="en-US" altLang="zh-CN"/>
              <a:t>URL</a:t>
            </a:r>
            <a:r>
              <a:rPr lang="zh-CN" altLang="en-US"/>
              <a:t>中的</a:t>
            </a:r>
            <a:r>
              <a:rPr lang="en-US" altLang="zh-CN"/>
              <a:t>start</a:t>
            </a:r>
            <a:r>
              <a:rPr lang="zh-CN" altLang="en-US"/>
              <a:t>参数决定从第几部电影开始。第一页</a:t>
            </a:r>
            <a:r>
              <a:rPr lang="en-US" altLang="zh-CN"/>
              <a:t>start=0，</a:t>
            </a:r>
            <a:r>
              <a:rPr lang="zh-CN" altLang="en-US"/>
              <a:t>第二页</a:t>
            </a:r>
            <a:r>
              <a:rPr lang="en-US" altLang="zh-CN"/>
              <a:t>start=25，</a:t>
            </a:r>
            <a:r>
              <a:rPr lang="zh-CN" altLang="en-US"/>
              <a:t>依此类推，第十页</a:t>
            </a:r>
            <a:r>
              <a:rPr lang="en-US" altLang="zh-CN"/>
              <a:t>start=225。</a:t>
            </a:r>
            <a:r>
              <a:rPr lang="zh-CN" altLang="en-US"/>
              <a:t>我们通过</a:t>
            </a:r>
            <a:r>
              <a:rPr lang="en-US" altLang="zh-CN"/>
              <a:t>for</a:t>
            </a:r>
            <a:r>
              <a:rPr lang="zh-CN" altLang="en-US"/>
              <a:t>循环遍历10页，将每页的数据合并，最终获取全部250部电影。</a:t>
            </a:r>
            <a:endParaRPr lang="zh-CN" altLang="en-US"/>
          </a:p>
        </p:txBody>
      </p:sp>
      <p:sp>
        <p:nvSpPr>
          <p:cNvPr id="8" name="标题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654040" y="855345"/>
            <a:ext cx="5405755" cy="442595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>
            <a:lvl1pPr algn="l" defTabSz="8559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60" kern="120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数据解析逻辑（核心）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" y="1259840"/>
            <a:ext cx="5006340" cy="21691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05475" y="5414010"/>
            <a:ext cx="5354320" cy="1254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这是豆瓣列表页的</a:t>
            </a:r>
            <a:r>
              <a:rPr lang="en-US" altLang="zh-CN"/>
              <a:t>HTML</a:t>
            </a:r>
            <a:r>
              <a:rPr lang="zh-CN" altLang="en-US"/>
              <a:t>结构。每个电影在</a:t>
            </a:r>
            <a:r>
              <a:rPr lang="en-US" altLang="zh-CN"/>
              <a:t>class</a:t>
            </a:r>
            <a:r>
              <a:rPr lang="zh-CN" altLang="en-US"/>
              <a:t>为</a:t>
            </a:r>
            <a:r>
              <a:rPr lang="en-US" altLang="zh-CN"/>
              <a:t>item</a:t>
            </a:r>
            <a:r>
              <a:rPr lang="zh-CN" altLang="en-US"/>
              <a:t>的</a:t>
            </a:r>
            <a:r>
              <a:rPr lang="en-US" altLang="zh-CN"/>
              <a:t>div</a:t>
            </a:r>
            <a:r>
              <a:rPr lang="zh-CN" altLang="en-US"/>
              <a:t>里，排名用</a:t>
            </a:r>
            <a:r>
              <a:rPr lang="en-US" altLang="zh-CN"/>
              <a:t>em</a:t>
            </a:r>
            <a:r>
              <a:rPr lang="zh-CN" altLang="en-US"/>
              <a:t>标签，标题用</a:t>
            </a:r>
            <a:r>
              <a:rPr lang="en-US" altLang="zh-CN"/>
              <a:t>span.title，</a:t>
            </a:r>
            <a:r>
              <a:rPr lang="zh-CN" altLang="en-US"/>
              <a:t>评分用</a:t>
            </a:r>
            <a:r>
              <a:rPr lang="en-US" altLang="zh-CN"/>
              <a:t>span.rating_num，</a:t>
            </a:r>
            <a:r>
              <a:rPr lang="zh-CN" altLang="en-US"/>
              <a:t>评价人数在</a:t>
            </a:r>
            <a:r>
              <a:rPr lang="en-US" altLang="zh-CN"/>
              <a:t>span</a:t>
            </a:r>
            <a:r>
              <a:rPr lang="zh-CN" altLang="en-US"/>
              <a:t>标签里包含'人评价'的文字，简介在</a:t>
            </a:r>
            <a:r>
              <a:rPr lang="en-US" altLang="zh-CN"/>
              <a:t>p.quote</a:t>
            </a:r>
            <a:r>
              <a:rPr lang="zh-CN" altLang="en-US"/>
              <a:t>的</a:t>
            </a:r>
            <a:r>
              <a:rPr lang="en-US" altLang="zh-CN"/>
              <a:t>span.inq</a:t>
            </a:r>
            <a:r>
              <a:rPr lang="zh-CN" altLang="en-US"/>
              <a:t>里。接下来看具体的解析代码。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730" y="1259840"/>
            <a:ext cx="4229735" cy="4116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64" y="66734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36370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175"/>
            <a:ext cx="4138295" cy="20929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295" y="652780"/>
            <a:ext cx="3670935" cy="20783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595" y="652780"/>
            <a:ext cx="3534410" cy="20955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731135"/>
            <a:ext cx="4326255" cy="20554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255" y="2731135"/>
            <a:ext cx="3794125" cy="20193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0520" y="2702560"/>
            <a:ext cx="3372485" cy="20840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786630"/>
            <a:ext cx="4326255" cy="207454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326890" y="4889500"/>
            <a:ext cx="701738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首先，我用 </a:t>
            </a:r>
            <a:r>
              <a:rPr lang="en-US" altLang="zh-CN"/>
              <a:t>find('em') </a:t>
            </a:r>
            <a:r>
              <a:rPr lang="zh-CN" altLang="en-US"/>
              <a:t>提取排名数字；接着用 </a:t>
            </a:r>
            <a:r>
              <a:rPr lang="en-US" altLang="zh-CN"/>
              <a:t>find_all('span', class_='title') </a:t>
            </a:r>
            <a:r>
              <a:rPr lang="zh-CN" altLang="en-US"/>
              <a:t>获取标题，第一个是中文，第二个去掉斜杠就是英文；然后用 </a:t>
            </a:r>
            <a:r>
              <a:rPr lang="en-US" altLang="zh-CN"/>
              <a:t>find('span', class_='rating_num') </a:t>
            </a:r>
            <a:r>
              <a:rPr lang="zh-CN" altLang="en-US"/>
              <a:t>提取评分；评价人数需要遍历</a:t>
            </a:r>
            <a:r>
              <a:rPr lang="en-US" altLang="zh-CN"/>
              <a:t>bd</a:t>
            </a:r>
            <a:r>
              <a:rPr lang="zh-CN" altLang="en-US"/>
              <a:t>区域的所有</a:t>
            </a:r>
            <a:r>
              <a:rPr lang="en-US" altLang="zh-CN"/>
              <a:t>span，</a:t>
            </a:r>
            <a:r>
              <a:rPr lang="zh-CN" altLang="en-US"/>
              <a:t>找到包含'人评价'的那个并转换为数字；简介从 </a:t>
            </a:r>
            <a:r>
              <a:rPr lang="en-US" altLang="zh-CN"/>
              <a:t>p.quote </a:t>
            </a:r>
            <a:r>
              <a:rPr lang="zh-CN" altLang="en-US"/>
              <a:t>里的</a:t>
            </a:r>
            <a:r>
              <a:rPr lang="en-US" altLang="zh-CN"/>
              <a:t>span</a:t>
            </a:r>
            <a:r>
              <a:rPr lang="zh-CN" altLang="en-US"/>
              <a:t>提取，同时做空值判断；导演和主演通过字符串分割从同一段文本中分离；最后用 </a:t>
            </a:r>
            <a:r>
              <a:rPr lang="en-US" altLang="zh-CN"/>
              <a:t>find('a')['href'] </a:t>
            </a:r>
            <a:r>
              <a:rPr lang="zh-CN" altLang="en-US"/>
              <a:t>获取详情页链接。这样就完成了7个字段的提取。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012180" y="2844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 数据解析——</a:t>
            </a:r>
            <a:r>
              <a:rPr lang="en-US" altLang="zh-CN"/>
              <a:t>parse() </a:t>
            </a:r>
            <a:r>
              <a:rPr lang="zh-CN" altLang="en-US"/>
              <a:t>函数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1318260"/>
            <a:ext cx="4203700" cy="3106420"/>
          </a:xfrm>
          <a:prstGeom prst="rect">
            <a:avLst/>
          </a:prstGeom>
        </p:spPr>
      </p:pic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4" y="66734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36370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43840" y="800100"/>
            <a:ext cx="5405755" cy="442595"/>
          </a:xfrm>
        </p:spPr>
        <p:txBody>
          <a:bodyPr/>
          <a:lstStyle/>
          <a:p>
            <a:r>
              <a:rPr lang="zh-CN" altLang="en-US"/>
              <a:t>运行结果与数据验证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33375" y="46215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运行结果验证了模块的正确性：成功爬取250部电影，中英文标题提取完整（有的电影没有英文标题）评分和评价人数与原网站完全一致。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670" y="528320"/>
            <a:ext cx="6060440" cy="31464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375" y="3674745"/>
            <a:ext cx="4142740" cy="309308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0" y="3674745"/>
            <a:ext cx="3568065" cy="3119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/>
        </p:nvPicPr>
        <p:blipFill>
          <a:blip r:embed="rId1"/>
          <a:srcRect b="9177"/>
          <a:stretch>
            <a:fillRect/>
          </a:stretch>
        </p:blipFill>
        <p:spPr>
          <a:xfrm>
            <a:off x="-69215" y="635"/>
            <a:ext cx="12261215" cy="6857365"/>
          </a:xfrm>
          <a:prstGeom prst="rect">
            <a:avLst/>
          </a:prstGeom>
        </p:spPr>
      </p:pic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191872" y="3153150"/>
            <a:ext cx="4823098" cy="14325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zh-CN" altLang="en-US" sz="3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进阶详情与动态爬取模块</a:t>
            </a:r>
            <a:endParaRPr kumimoji="1" lang="zh-CN" altLang="en-US" sz="3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473258" y="-742949"/>
            <a:ext cx="2584642" cy="40233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0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03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5125" y="813435"/>
            <a:ext cx="5405755" cy="442595"/>
          </a:xfrm>
        </p:spPr>
        <p:txBody>
          <a:bodyPr/>
          <a:lstStyle/>
          <a:p>
            <a:r>
              <a:rPr lang="zh-CN" altLang="en-US"/>
              <a:t>模块概述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6400" y="3010535"/>
            <a:ext cx="4356100" cy="2900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r>
              <a:rPr lang="zh-CN" altLang="en-US" sz="1600"/>
              <a:t>核心技术：</a:t>
            </a:r>
            <a:endParaRPr lang="zh-CN" altLang="en-US" sz="1600"/>
          </a:p>
          <a:p>
            <a:r>
              <a:rPr lang="en-US" altLang="zh-CN" sz="1600"/>
              <a:t>- Selenium WebDriver</a:t>
            </a:r>
            <a:endParaRPr lang="en-US" altLang="zh-CN" sz="1600"/>
          </a:p>
          <a:p>
            <a:r>
              <a:rPr lang="en-US" altLang="zh-CN" sz="1600"/>
              <a:t>- Edge Headless </a:t>
            </a:r>
            <a:r>
              <a:rPr lang="zh-CN" altLang="en-US" sz="1600"/>
              <a:t>无头浏览器</a:t>
            </a:r>
            <a:endParaRPr lang="zh-CN" altLang="en-US" sz="1600"/>
          </a:p>
          <a:p>
            <a:r>
              <a:rPr lang="en-US" altLang="zh-CN" sz="1600"/>
              <a:t>- XPath/CSS</a:t>
            </a:r>
            <a:r>
              <a:rPr lang="zh-CN" altLang="en-US" sz="1600"/>
              <a:t>选择器</a:t>
            </a:r>
            <a:endParaRPr lang="zh-CN" altLang="en-US" sz="1600"/>
          </a:p>
          <a:p>
            <a:r>
              <a:rPr lang="en-US" altLang="zh-CN" sz="1600"/>
              <a:t>- requests</a:t>
            </a:r>
            <a:r>
              <a:rPr lang="zh-CN" altLang="en-US" sz="1600"/>
              <a:t>流式下载</a:t>
            </a:r>
            <a:endParaRPr lang="zh-CN" altLang="en-US" sz="1600"/>
          </a:p>
        </p:txBody>
      </p:sp>
      <p:sp>
        <p:nvSpPr>
          <p:cNvPr id="7" name="文本框 6"/>
          <p:cNvSpPr txBox="1"/>
          <p:nvPr/>
        </p:nvSpPr>
        <p:spPr>
          <a:xfrm>
            <a:off x="406400" y="473265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进阶爬取模块的目标是获取电影详情页的更多信息。这部分的技术难点在于短评是</a:t>
            </a:r>
            <a:r>
              <a:rPr lang="en-US" altLang="zh-CN"/>
              <a:t>JavaScript</a:t>
            </a:r>
            <a:r>
              <a:rPr lang="zh-CN" altLang="en-US"/>
              <a:t>动态加载的，默认只显示6条，需要用</a:t>
            </a:r>
            <a:r>
              <a:rPr lang="en-US" altLang="zh-CN"/>
              <a:t>Selenium</a:t>
            </a:r>
            <a:r>
              <a:rPr lang="zh-CN" altLang="en-US"/>
              <a:t>模拟点击操作才能获取更多。同时还要处理海报下载的反盗链问题。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5" y="1355090"/>
            <a:ext cx="4199255" cy="1835150"/>
          </a:xfrm>
          <a:prstGeom prst="rect">
            <a:avLst/>
          </a:prstGeom>
        </p:spPr>
      </p:pic>
      <p:sp>
        <p:nvSpPr>
          <p:cNvPr id="11" name="标题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359400" y="813435"/>
            <a:ext cx="5405755" cy="442595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>
            <a:lvl1pPr algn="l" defTabSz="8559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60" kern="120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Selenium</a:t>
            </a:r>
            <a:r>
              <a:rPr lang="zh-CN" altLang="en-US"/>
              <a:t>无头浏览器配置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320" y="1143000"/>
            <a:ext cx="5760085" cy="2047240"/>
          </a:xfrm>
          <a:prstGeom prst="rect">
            <a:avLst/>
          </a:prstGeom>
        </p:spPr>
      </p:pic>
      <p:graphicFrame>
        <p:nvGraphicFramePr>
          <p:cNvPr id="15" name="表格 14"/>
          <p:cNvGraphicFramePr/>
          <p:nvPr>
            <p:custDataLst>
              <p:tags r:id="rId6"/>
            </p:custDataLst>
          </p:nvPr>
        </p:nvGraphicFramePr>
        <p:xfrm>
          <a:off x="5100320" y="3303905"/>
          <a:ext cx="6403975" cy="2084070"/>
        </p:xfrm>
        <a:graphic>
          <a:graphicData uri="http://schemas.openxmlformats.org/drawingml/2006/table">
            <a:tbl>
              <a:tblPr firstRow="1">
                <a:tableStyleId>{7D245AE6-67BB-4405-8C85-560DCE77FCB8}</a:tableStyleId>
              </a:tblPr>
              <a:tblGrid>
                <a:gridCol w="3428365"/>
                <a:gridCol w="2975610"/>
              </a:tblGrid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 参数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作用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eadless=new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无头模式，不显示浏览器窗口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disable-gpu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禁用</a:t>
                      </a:r>
                      <a:r>
                        <a:rPr lang="en-US" altLang="zh-CN"/>
                        <a:t>GPU</a:t>
                      </a:r>
                      <a:r>
                        <a:rPr lang="zh-CN" altLang="en-US"/>
                        <a:t>加速，减少资源占用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no-sandbox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解决</a:t>
                      </a:r>
                      <a:r>
                        <a:rPr lang="en-US" altLang="zh-CN"/>
                        <a:t>Linux</a:t>
                      </a:r>
                      <a:r>
                        <a:rPr lang="zh-CN" altLang="en-US"/>
                        <a:t>容器环境权限问题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window-size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设置浏览器窗口大小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user-agent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设置请求头中的</a:t>
                      </a:r>
                      <a:r>
                        <a:rPr lang="en-US" altLang="zh-CN"/>
                        <a:t>User-Agent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5100320" y="5605145"/>
            <a:ext cx="64033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这是</a:t>
            </a:r>
            <a:r>
              <a:rPr lang="en-US" altLang="zh-CN"/>
              <a:t>Selenium</a:t>
            </a:r>
            <a:r>
              <a:rPr lang="zh-CN" altLang="en-US"/>
              <a:t>无头浏览器的配置代码。通过设置</a:t>
            </a:r>
            <a:r>
              <a:rPr lang="en-US" altLang="zh-CN"/>
              <a:t>headless</a:t>
            </a:r>
            <a:r>
              <a:rPr lang="zh-CN" altLang="en-US"/>
              <a:t>参数让浏览器在后台运行，不显示窗口。同时设置了窗口大小和</a:t>
            </a:r>
            <a:r>
              <a:rPr lang="en-US" altLang="zh-CN"/>
              <a:t>User-Agent，</a:t>
            </a:r>
            <a:r>
              <a:rPr lang="zh-CN" altLang="en-US"/>
              <a:t>让请求看起来更像真实用户。选择</a:t>
            </a:r>
            <a:r>
              <a:rPr lang="en-US" altLang="zh-CN"/>
              <a:t>Edge</a:t>
            </a:r>
            <a:r>
              <a:rPr lang="zh-CN" altLang="en-US"/>
              <a:t>是因为它在</a:t>
            </a:r>
            <a:r>
              <a:rPr lang="en-US" altLang="zh-CN"/>
              <a:t>Windows</a:t>
            </a:r>
            <a:r>
              <a:rPr lang="zh-CN" altLang="en-US"/>
              <a:t>系统上兼容性最好，而且和</a:t>
            </a:r>
            <a:r>
              <a:rPr lang="en-US" altLang="zh-CN"/>
              <a:t>Chrome</a:t>
            </a:r>
            <a:r>
              <a:rPr lang="zh-CN" altLang="en-US"/>
              <a:t>内核相同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6" y="12451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03350" y="124344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1484630"/>
            <a:ext cx="3489960" cy="3967480"/>
          </a:xfrm>
          <a:prstGeom prst="rect">
            <a:avLst/>
          </a:prstGeom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65125" y="813435"/>
            <a:ext cx="5405755" cy="442595"/>
          </a:xfrm>
        </p:spPr>
        <p:txBody>
          <a:bodyPr/>
          <a:lstStyle/>
          <a:p>
            <a:r>
              <a:rPr lang="zh-CN" altLang="en-US"/>
              <a:t>详情页信息提取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7350" y="1177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核心代码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5255" y="5517515"/>
            <a:ext cx="4794885" cy="1213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详情页提取使用</a:t>
            </a:r>
            <a:r>
              <a:rPr lang="en-US" altLang="zh-CN"/>
              <a:t>XPath</a:t>
            </a:r>
            <a:r>
              <a:rPr lang="zh-CN" altLang="en-US"/>
              <a:t>选择器。年份、类型、片长都有专门的</a:t>
            </a:r>
            <a:r>
              <a:rPr lang="en-US" altLang="zh-CN"/>
              <a:t>property</a:t>
            </a:r>
            <a:r>
              <a:rPr lang="zh-CN" altLang="en-US"/>
              <a:t>属性标识，</a:t>
            </a:r>
            <a:r>
              <a:rPr lang="en-US" altLang="zh-CN"/>
              <a:t>IMDb</a:t>
            </a:r>
            <a:r>
              <a:rPr lang="zh-CN" altLang="en-US"/>
              <a:t>则需要从</a:t>
            </a:r>
            <a:r>
              <a:rPr lang="en-US" altLang="zh-CN"/>
              <a:t>info</a:t>
            </a:r>
            <a:r>
              <a:rPr lang="zh-CN" altLang="en-US"/>
              <a:t>区域的文本中解析。每个字段都用</a:t>
            </a:r>
            <a:r>
              <a:rPr lang="en-US" altLang="zh-CN"/>
              <a:t>try-except</a:t>
            </a:r>
            <a:r>
              <a:rPr lang="zh-CN" altLang="en-US"/>
              <a:t>包裹，避免某个字段缺失导致程序崩溃。</a:t>
            </a:r>
            <a:endParaRPr lang="zh-CN" altLang="en-US"/>
          </a:p>
        </p:txBody>
      </p:sp>
      <p:sp>
        <p:nvSpPr>
          <p:cNvPr id="8" name="标题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930140" y="813435"/>
            <a:ext cx="5405755" cy="442595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>
            <a:lvl1pPr algn="l" defTabSz="8559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60" kern="120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动态短评爬取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0140" y="1256030"/>
            <a:ext cx="6435090" cy="40709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90185" y="5502910"/>
            <a:ext cx="5914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这是本模块的核心亮点！豆瓣默认只显示6条短评，我通过点击'全部</a:t>
            </a:r>
            <a:r>
              <a:rPr lang="en-US" altLang="zh-CN"/>
              <a:t>XXX</a:t>
            </a:r>
            <a:r>
              <a:rPr lang="zh-CN" altLang="en-US"/>
              <a:t>条'链接进入完整短评页面，这样就能获取所有短评。为了保证兼容性，我准备了三种选择器来定位这个链接。点击时使用</a:t>
            </a:r>
            <a:r>
              <a:rPr lang="en-US" altLang="zh-CN"/>
              <a:t>JavaScript</a:t>
            </a:r>
            <a:r>
              <a:rPr lang="zh-CN" altLang="en-US"/>
              <a:t>执行，避免被拦截。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6" y="12451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03350" y="124344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5125" y="813435"/>
            <a:ext cx="5405755" cy="442595"/>
          </a:xfrm>
        </p:spPr>
        <p:txBody>
          <a:bodyPr/>
          <a:lstStyle/>
          <a:p>
            <a:r>
              <a:rPr lang="zh-CN" altLang="en-US"/>
              <a:t>短评数据提取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" y="1141730"/>
            <a:ext cx="5542915" cy="47059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70880" y="2799715"/>
            <a:ext cx="6257925" cy="3120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user:</a:t>
            </a:r>
            <a:r>
              <a:rPr lang="zh-CN" altLang="en-US"/>
              <a:t>首先找到</a:t>
            </a:r>
            <a:r>
              <a:rPr lang="en-US" altLang="zh-CN"/>
              <a:t>class</a:t>
            </a:r>
            <a:r>
              <a:rPr lang="zh-CN" altLang="en-US"/>
              <a:t>为 </a:t>
            </a:r>
            <a:r>
              <a:rPr lang="en-US" altLang="zh-CN"/>
              <a:t>comment-info </a:t>
            </a:r>
            <a:r>
              <a:rPr lang="zh-CN" altLang="en-US"/>
              <a:t>的</a:t>
            </a:r>
            <a:r>
              <a:rPr lang="en-US" altLang="zh-CN"/>
              <a:t>div，</a:t>
            </a:r>
            <a:r>
              <a:rPr lang="zh-CN" altLang="en-US"/>
              <a:t>里面包含了评论者信息</a:t>
            </a:r>
            <a:r>
              <a:rPr lang="en-US" altLang="zh-CN"/>
              <a:t>,</a:t>
            </a:r>
            <a:r>
              <a:rPr lang="zh-CN" altLang="en-US"/>
              <a:t>在这个</a:t>
            </a:r>
            <a:r>
              <a:rPr lang="en-US" altLang="zh-CN"/>
              <a:t>div</a:t>
            </a:r>
            <a:r>
              <a:rPr lang="zh-CN" altLang="en-US"/>
              <a:t>下找到第一个 &lt;</a:t>
            </a:r>
            <a:r>
              <a:rPr lang="en-US" altLang="zh-CN"/>
              <a:t>a&gt; </a:t>
            </a:r>
            <a:r>
              <a:rPr lang="zh-CN" altLang="en-US"/>
              <a:t>标签，它的文本内容就是评论者用户名</a:t>
            </a:r>
            <a:r>
              <a:rPr lang="en-US" altLang="zh-CN"/>
              <a:t>,</a:t>
            </a:r>
            <a:r>
              <a:rPr lang="zh-CN" altLang="en-US"/>
              <a:t>如果找不到用户信息（比如匿名用户），就保持默认值"匿名"</a:t>
            </a:r>
            <a:endParaRPr lang="zh-CN" altLang="en-US"/>
          </a:p>
          <a:p>
            <a:r>
              <a:rPr lang="en-US" altLang="zh-CN"/>
              <a:t>score:</a:t>
            </a:r>
            <a:r>
              <a:rPr lang="zh-CN" altLang="en-US"/>
              <a:t>找到</a:t>
            </a:r>
            <a:r>
              <a:rPr lang="en-US" altLang="zh-CN"/>
              <a:t>class</a:t>
            </a:r>
            <a:r>
              <a:rPr lang="zh-CN" altLang="en-US"/>
              <a:t>为 </a:t>
            </a:r>
            <a:r>
              <a:rPr lang="en-US" altLang="zh-CN"/>
              <a:t>rating </a:t>
            </a:r>
            <a:r>
              <a:rPr lang="zh-CN" altLang="en-US"/>
              <a:t>的</a:t>
            </a:r>
            <a:r>
              <a:rPr lang="en-US" altLang="zh-CN"/>
              <a:t>span</a:t>
            </a:r>
            <a:r>
              <a:rPr lang="zh-CN" altLang="en-US"/>
              <a:t>标签评分不是直接的文本内容，而是存储在 </a:t>
            </a:r>
            <a:r>
              <a:rPr lang="en-US" altLang="zh-CN"/>
              <a:t>title </a:t>
            </a:r>
            <a:r>
              <a:rPr lang="zh-CN" altLang="en-US"/>
              <a:t>属性中</a:t>
            </a:r>
            <a:r>
              <a:rPr lang="en-US" altLang="zh-CN"/>
              <a:t>.</a:t>
            </a:r>
            <a:r>
              <a:rPr lang="zh-CN" altLang="en-US"/>
              <a:t>属性值 ：</a:t>
            </a:r>
            <a:r>
              <a:rPr lang="en-US" altLang="zh-CN"/>
              <a:t>title="</a:t>
            </a:r>
            <a:r>
              <a:rPr lang="zh-CN" altLang="en-US"/>
              <a:t>力荐" → 5星</a:t>
            </a:r>
            <a:r>
              <a:rPr lang="zh-CN"/>
              <a:t>、</a:t>
            </a:r>
            <a:r>
              <a:rPr lang="en-US" altLang="zh-CN"/>
              <a:t>title="</a:t>
            </a:r>
            <a:r>
              <a:rPr lang="zh-CN" altLang="en-US"/>
              <a:t>推荐"→ 4星、</a:t>
            </a:r>
            <a:r>
              <a:rPr lang="en-US" altLang="zh-CN"/>
              <a:t>title="</a:t>
            </a:r>
            <a:r>
              <a:rPr lang="zh-CN" altLang="en-US"/>
              <a:t>还行" → 3星、</a:t>
            </a:r>
            <a:r>
              <a:rPr lang="en-US" altLang="zh-CN"/>
              <a:t>title="</a:t>
            </a:r>
            <a:r>
              <a:rPr lang="zh-CN" altLang="en-US"/>
              <a:t>较差" → 2星、</a:t>
            </a:r>
            <a:r>
              <a:rPr lang="en-US" altLang="zh-CN"/>
              <a:t>title="</a:t>
            </a:r>
            <a:r>
              <a:rPr lang="zh-CN" altLang="en-US"/>
              <a:t>很差" → 1星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content:</a:t>
            </a:r>
            <a:r>
              <a:rPr lang="zh-CN" altLang="en-US"/>
              <a:t>找到</a:t>
            </a:r>
            <a:r>
              <a:rPr lang="en-US" altLang="zh-CN"/>
              <a:t>class</a:t>
            </a:r>
            <a:r>
              <a:rPr lang="zh-CN" altLang="en-US"/>
              <a:t>为 </a:t>
            </a:r>
            <a:r>
              <a:rPr lang="en-US" altLang="zh-CN"/>
              <a:t>short </a:t>
            </a:r>
            <a:r>
              <a:rPr lang="zh-CN" altLang="en-US"/>
              <a:t>的</a:t>
            </a:r>
            <a:r>
              <a:rPr lang="en-US" altLang="zh-CN"/>
              <a:t>span</a:t>
            </a:r>
            <a:r>
              <a:rPr lang="zh-CN" altLang="en-US"/>
              <a:t>标签，这是短评内容的容器直接获取文本内容，并用 </a:t>
            </a:r>
            <a:r>
              <a:rPr lang="en-US" altLang="zh-CN"/>
              <a:t>strip() </a:t>
            </a:r>
            <a:r>
              <a:rPr lang="zh-CN" altLang="en-US"/>
              <a:t>去除前后空白。特殊处理 ：短评内容可能包含换行符， </a:t>
            </a:r>
            <a:r>
              <a:rPr lang="en-US" altLang="zh-CN"/>
              <a:t>strip() </a:t>
            </a:r>
            <a:r>
              <a:rPr lang="zh-CN" altLang="en-US"/>
              <a:t>会自动处理</a:t>
            </a:r>
            <a:endParaRPr lang="zh-CN" altLang="en-US"/>
          </a:p>
          <a:p>
            <a:r>
              <a:rPr lang="en-US" altLang="zh-CN"/>
              <a:t>time</a:t>
            </a:r>
            <a:r>
              <a:rPr lang="zh-CN" altLang="en-US"/>
              <a:t>：找到</a:t>
            </a:r>
            <a:r>
              <a:rPr lang="en-US" altLang="zh-CN"/>
              <a:t>class</a:t>
            </a:r>
            <a:r>
              <a:rPr lang="zh-CN" altLang="en-US"/>
              <a:t>为 </a:t>
            </a:r>
            <a:r>
              <a:rPr lang="en-US" altLang="zh-CN"/>
              <a:t>comment-time </a:t>
            </a:r>
            <a:r>
              <a:rPr lang="zh-CN" altLang="en-US"/>
              <a:t>的</a:t>
            </a:r>
            <a:r>
              <a:rPr lang="en-US" altLang="zh-CN"/>
              <a:t>span</a:t>
            </a:r>
            <a:r>
              <a:rPr lang="zh-CN" altLang="en-US"/>
              <a:t>标签，直接获取文本内容，格式通常是"2024-01-15 10:30"。</a:t>
            </a:r>
            <a:endParaRPr lang="zh-CN" altLang="en-US"/>
          </a:p>
        </p:txBody>
      </p:sp>
      <p:graphicFrame>
        <p:nvGraphicFramePr>
          <p:cNvPr id="15" name="表格 14"/>
          <p:cNvGraphicFramePr/>
          <p:nvPr>
            <p:custDataLst>
              <p:tags r:id="rId4"/>
            </p:custDataLst>
          </p:nvPr>
        </p:nvGraphicFramePr>
        <p:xfrm>
          <a:off x="5770880" y="695960"/>
          <a:ext cx="6315710" cy="1992630"/>
        </p:xfrm>
        <a:graphic>
          <a:graphicData uri="http://schemas.openxmlformats.org/drawingml/2006/table">
            <a:tbl>
              <a:tblPr firstRow="1">
                <a:tableStyleId>{7D245AE6-67BB-4405-8C85-560DCE77FCB8}</a:tableStyleId>
              </a:tblPr>
              <a:tblGrid>
                <a:gridCol w="3263265"/>
                <a:gridCol w="3052445"/>
              </a:tblGrid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字段 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 说明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user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评论者用户名 </a:t>
                      </a:r>
                      <a:endParaRPr lang="zh-CN" altLang="en-US"/>
                    </a:p>
                  </a:txBody>
                  <a:tcPr/>
                </a:tc>
              </a:tr>
              <a:tr h="6032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score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 星级评分（如"力荐"、"推荐"等）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 content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短评内容 </a:t>
                      </a:r>
                      <a:endParaRPr lang="zh-CN" altLang="en-US"/>
                    </a:p>
                  </a:txBody>
                  <a:tcPr/>
                </a:tc>
              </a:tr>
              <a:tr h="3473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time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评论时间 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41655" y="5848350"/>
            <a:ext cx="5175250" cy="717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为什么每个字段单独用</a:t>
            </a:r>
            <a:r>
              <a:rPr lang="en-US" altLang="zh-CN" sz="1600"/>
              <a:t>try-except？</a:t>
            </a:r>
            <a:endParaRPr lang="en-US" altLang="zh-CN" sz="1600"/>
          </a:p>
          <a:p>
            <a:r>
              <a:rPr lang="zh-CN" altLang="en-US" sz="1600"/>
              <a:t>即使某个字段失败，其他字段仍能正常提取</a:t>
            </a:r>
            <a:endParaRPr lang="zh-CN" altLang="en-US" sz="1600"/>
          </a:p>
          <a:p>
            <a:r>
              <a:rPr lang="zh-CN" altLang="en-US" sz="1600"/>
              <a:t>页面结构变化不会导致整个程序崩溃</a:t>
            </a:r>
            <a:endParaRPr lang="zh-CN" altLang="en-US" sz="1600"/>
          </a:p>
          <a:p>
            <a:r>
              <a:rPr lang="zh-CN" altLang="en-US" sz="1600"/>
              <a:t>可以精确知道哪个字段提取失败</a:t>
            </a:r>
            <a:endParaRPr lang="zh-CN" altLang="en-US" sz="1600"/>
          </a:p>
          <a:p>
            <a:endParaRPr lang="en-US" altLang="zh-CN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65125" y="813435"/>
            <a:ext cx="5405755" cy="442595"/>
          </a:xfrm>
        </p:spPr>
        <p:txBody>
          <a:bodyPr/>
          <a:lstStyle/>
          <a:p>
            <a:r>
              <a:rPr lang="zh-CN" altLang="en-US"/>
              <a:t>海报下载（断点续传）</a:t>
            </a:r>
            <a:endParaRPr lang="zh-CN" altLang="en-US"/>
          </a:p>
        </p:txBody>
      </p:sp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9" y="5847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47165" y="58304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0" y="1183640"/>
            <a:ext cx="4336415" cy="35763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4470" y="497586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海报下载的关键在于添加</a:t>
            </a:r>
            <a:r>
              <a:rPr lang="en-US" altLang="zh-CN"/>
              <a:t>Referer</a:t>
            </a:r>
            <a:r>
              <a:rPr lang="zh-CN" altLang="en-US"/>
              <a:t>请求头，否则豆瓣</a:t>
            </a:r>
            <a:r>
              <a:rPr lang="en-US" altLang="zh-CN"/>
              <a:t>CDN</a:t>
            </a:r>
            <a:r>
              <a:rPr lang="zh-CN" altLang="en-US"/>
              <a:t>会拒绝访问。同时实现了断点续传功能，如果海报已经下载过就跳过。流式下载确保不会因为大图片占用过多内存。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4949825" y="518795"/>
          <a:ext cx="5204460" cy="1871345"/>
        </p:xfrm>
        <a:graphic>
          <a:graphicData uri="http://schemas.openxmlformats.org/drawingml/2006/table">
            <a:tbl>
              <a:tblPr firstRow="1" bandRow="1">
                <a:tableStyleId>{F8C1D441-2292-4423-9868-42F7509B36EC}</a:tableStyleId>
              </a:tblPr>
              <a:tblGrid>
                <a:gridCol w="5204460"/>
              </a:tblGrid>
              <a:tr h="264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关键技术点：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Referer</a:t>
                      </a:r>
                      <a:r>
                        <a:rPr lang="zh-CN" altLang="en-US"/>
                        <a:t>头：豆瓣</a:t>
                      </a:r>
                      <a:r>
                        <a:rPr lang="en-US" altLang="zh-CN"/>
                        <a:t>CDN</a:t>
                      </a:r>
                      <a:r>
                        <a:rPr lang="zh-CN" altLang="en-US"/>
                        <a:t>要求来源验证，否则返回403 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stream=True：</a:t>
                      </a:r>
                      <a:r>
                        <a:rPr lang="zh-CN" altLang="en-US"/>
                        <a:t>流式下载，避免大文件占用过多内存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断点续传：已存在则跳过，避免重复下载 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文件名清洗：去除非法字符（&lt;&gt;:"/\|?*）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标题 1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925060" y="2548890"/>
            <a:ext cx="5405755" cy="442595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>
            <a:lvl1pPr algn="l" defTabSz="8559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60" kern="120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运行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060" y="2876550"/>
            <a:ext cx="5573395" cy="23869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5060" y="4343400"/>
            <a:ext cx="5678170" cy="2397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/>
        </p:nvPicPr>
        <p:blipFill>
          <a:blip r:embed="rId1"/>
          <a:srcRect b="9177"/>
          <a:stretch>
            <a:fillRect/>
          </a:stretch>
        </p:blipFill>
        <p:spPr>
          <a:xfrm>
            <a:off x="-69215" y="635"/>
            <a:ext cx="12261215" cy="6857365"/>
          </a:xfrm>
          <a:prstGeom prst="rect">
            <a:avLst/>
          </a:prstGeom>
        </p:spPr>
      </p:pic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014345" y="3153410"/>
            <a:ext cx="5577840" cy="143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zh-CN" altLang="en-US" sz="3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数据存储方案</a:t>
            </a:r>
            <a:endParaRPr kumimoji="1" lang="zh-CN" altLang="en-US" sz="3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473258" y="-742949"/>
            <a:ext cx="2584642" cy="40233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0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04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6" name="标题 1"/>
          <p:cNvSpPr txBox="1"/>
          <p:nvPr>
            <p:custDataLst>
              <p:tags r:id="rId2"/>
            </p:custDataLst>
          </p:nvPr>
        </p:nvSpPr>
        <p:spPr>
          <a:xfrm>
            <a:off x="791304" y="2503087"/>
            <a:ext cx="287999" cy="2880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noFill/>
            <a:miter/>
          </a:ln>
        </p:spPr>
        <p:txBody>
          <a:bodyPr vert="horz" wrap="square" lIns="45719" tIns="45720" rIns="45719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365125" y="3264535"/>
          <a:ext cx="5204460" cy="1871345"/>
        </p:xfrm>
        <a:graphic>
          <a:graphicData uri="http://schemas.openxmlformats.org/drawingml/2006/table">
            <a:tbl>
              <a:tblPr firstRow="1" bandRow="1">
                <a:tableStyleId>{F8C1D441-2292-4423-9868-42F7509B36EC}</a:tableStyleId>
              </a:tblPr>
              <a:tblGrid>
                <a:gridCol w="52044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数据完整性：使用外键关联保证数据一致性 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数据冗余：避免重复存储，提高存储效率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 可扩展性：表结构设计便于后续功能扩展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易维护性：清晰的表结构和字段命名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922020"/>
            <a:ext cx="4206875" cy="23094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5125" y="4947285"/>
            <a:ext cx="4568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数据存储采用双架构设计：</a:t>
            </a:r>
            <a:r>
              <a:rPr lang="en-US" altLang="zh-CN"/>
              <a:t>MySQL</a:t>
            </a:r>
            <a:r>
              <a:rPr lang="zh-CN" altLang="en-US"/>
              <a:t>数据库用于结构化存储，</a:t>
            </a:r>
            <a:r>
              <a:rPr lang="en-US" altLang="zh-CN"/>
              <a:t>CSV</a:t>
            </a:r>
            <a:r>
              <a:rPr lang="zh-CN" altLang="en-US"/>
              <a:t>和</a:t>
            </a:r>
            <a:r>
              <a:rPr lang="en-US" altLang="zh-CN"/>
              <a:t>JSON</a:t>
            </a:r>
            <a:r>
              <a:rPr lang="zh-CN" altLang="en-US"/>
              <a:t>文件用于备份。这样既保证了数据的完整性和查询效率，又方便数据迁移和共享。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840" y="746760"/>
            <a:ext cx="3615690" cy="3823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659880" y="4789170"/>
            <a:ext cx="4495165" cy="997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数据库包含两张表：</a:t>
            </a:r>
            <a:r>
              <a:rPr lang="en-US" altLang="zh-CN"/>
              <a:t>movies</a:t>
            </a:r>
            <a:r>
              <a:rPr lang="zh-CN" altLang="en-US"/>
              <a:t>表存储电影基本信息，</a:t>
            </a:r>
            <a:r>
              <a:rPr lang="en-US" altLang="zh-CN"/>
              <a:t>comments</a:t>
            </a:r>
            <a:r>
              <a:rPr lang="zh-CN" altLang="en-US"/>
              <a:t>表存储短评数据。</a:t>
            </a:r>
            <a:r>
              <a:rPr lang="en-US" altLang="zh-CN"/>
              <a:t>comments</a:t>
            </a:r>
            <a:r>
              <a:rPr lang="zh-CN" altLang="en-US"/>
              <a:t>表通过</a:t>
            </a:r>
            <a:r>
              <a:rPr lang="en-US" altLang="zh-CN"/>
              <a:t>movie_id</a:t>
            </a:r>
            <a:r>
              <a:rPr lang="zh-CN" altLang="en-US"/>
              <a:t>字段与</a:t>
            </a:r>
            <a:r>
              <a:rPr lang="en-US" altLang="zh-CN"/>
              <a:t>movies</a:t>
            </a:r>
            <a:r>
              <a:rPr lang="zh-CN" altLang="en-US"/>
              <a:t>表建立外键关联，保证数据的一致性。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461125" y="234315"/>
            <a:ext cx="5405755" cy="442595"/>
          </a:xfrm>
        </p:spPr>
        <p:txBody>
          <a:bodyPr/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/>
              <a:t>双表设计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5415" y="1134745"/>
            <a:ext cx="5405755" cy="442595"/>
          </a:xfrm>
        </p:spPr>
        <p:txBody>
          <a:bodyPr/>
          <a:lstStyle/>
          <a:p>
            <a:r>
              <a:rPr lang="zh-CN" altLang="en-US"/>
              <a:t>外键关系与数据完整性</a:t>
            </a:r>
            <a:endParaRPr lang="zh-CN" altLang="en-US"/>
          </a:p>
        </p:txBody>
      </p:sp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40180" y="105294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6850" y="4592320"/>
            <a:ext cx="58178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两张表通过外键建立1对多的关系。外键约束保证了数据的完整性，防止插入无效的电影</a:t>
            </a:r>
            <a:r>
              <a:rPr lang="en-US" altLang="zh-CN"/>
              <a:t>ID，</a:t>
            </a:r>
            <a:r>
              <a:rPr lang="zh-CN" altLang="en-US"/>
              <a:t>同时在删除电影时可以自动删除其相关短评，避免数据冗余和孤立记录。</a:t>
            </a:r>
            <a:endParaRPr lang="zh-CN" altLang="en-US"/>
          </a:p>
        </p:txBody>
      </p:sp>
      <p:sp>
        <p:nvSpPr>
          <p:cNvPr id="5" name="标题 1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922010" y="1134745"/>
            <a:ext cx="5405755" cy="442595"/>
          </a:xfrm>
          <a:prstGeom prst="rect">
            <a:avLst/>
          </a:prstGeom>
        </p:spPr>
        <p:txBody>
          <a:bodyPr vert="horz" lIns="71323" tIns="35662" rIns="71323" bIns="35662" rtlCol="0" anchor="b">
            <a:noAutofit/>
          </a:bodyPr>
          <a:lstStyle>
            <a:lvl1pPr algn="l" defTabSz="8559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60" kern="1200">
                <a:solidFill>
                  <a:schemeClr val="accent1">
                    <a:lumMod val="7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数据导出备份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96000" y="4646295"/>
            <a:ext cx="5232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数据导出为两种格式：</a:t>
            </a:r>
            <a:r>
              <a:rPr lang="en-US" altLang="zh-CN"/>
              <a:t>JSON</a:t>
            </a:r>
            <a:r>
              <a:rPr lang="zh-CN" altLang="en-US"/>
              <a:t>格式便于程序处理和数据交换，</a:t>
            </a:r>
            <a:r>
              <a:rPr lang="en-US" altLang="zh-CN"/>
              <a:t>CSV</a:t>
            </a:r>
            <a:r>
              <a:rPr lang="zh-CN" altLang="en-US"/>
              <a:t>格式便于用</a:t>
            </a:r>
            <a:r>
              <a:rPr lang="en-US" altLang="zh-CN"/>
              <a:t>Excel</a:t>
            </a:r>
            <a:r>
              <a:rPr lang="zh-CN" altLang="en-US"/>
              <a:t>打开查看。导出时使用</a:t>
            </a:r>
            <a:r>
              <a:rPr lang="en-US" altLang="zh-CN"/>
              <a:t>utf-8</a:t>
            </a:r>
            <a:r>
              <a:rPr lang="zh-CN" altLang="en-US"/>
              <a:t>编码确保中文正确显示，</a:t>
            </a:r>
            <a:r>
              <a:rPr lang="en-US" altLang="zh-CN"/>
              <a:t>CSV</a:t>
            </a:r>
            <a:r>
              <a:rPr lang="zh-CN" altLang="en-US"/>
              <a:t>使用</a:t>
            </a:r>
            <a:r>
              <a:rPr lang="en-US" altLang="zh-CN"/>
              <a:t>utf-8-sig</a:t>
            </a:r>
            <a:r>
              <a:rPr lang="zh-CN" altLang="en-US"/>
              <a:t>编码以便</a:t>
            </a:r>
            <a:r>
              <a:rPr lang="en-US" altLang="zh-CN"/>
              <a:t>Excel</a:t>
            </a:r>
            <a:r>
              <a:rPr lang="zh-CN" altLang="en-US"/>
              <a:t>正确识别中文。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15" y="1577340"/>
            <a:ext cx="5227320" cy="2715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/>
        </p:nvPicPr>
        <p:blipFill>
          <a:blip r:embed="rId1"/>
          <a:srcRect b="9177"/>
          <a:stretch>
            <a:fillRect/>
          </a:stretch>
        </p:blipFill>
        <p:spPr>
          <a:xfrm>
            <a:off x="-69215" y="635"/>
            <a:ext cx="12261215" cy="6857365"/>
          </a:xfrm>
          <a:prstGeom prst="rect">
            <a:avLst/>
          </a:prstGeom>
        </p:spPr>
      </p:pic>
      <p:pic>
        <p:nvPicPr>
          <p:cNvPr id="14" name="图片 13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2746375" y="3153410"/>
            <a:ext cx="5577840" cy="14325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kumimoji="1" lang="zh-CN" altLang="en-US" sz="3800" b="1">
                <a:latin typeface="黑体" panose="02010609060101010101" charset="-122"/>
                <a:ea typeface="黑体" panose="02010609060101010101" charset="-122"/>
              </a:rPr>
              <a:t>总结与展望</a:t>
            </a:r>
            <a:endParaRPr kumimoji="1" lang="zh-CN" altLang="en-US" sz="3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473258" y="-742949"/>
            <a:ext cx="2584642" cy="40233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>
              <a:lnSpc>
                <a:spcPct val="110000"/>
              </a:lnSpc>
            </a:pPr>
            <a:r>
              <a:rPr kumimoji="1" lang="en-US" altLang="zh-CN" sz="100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</a:rPr>
              <a:t>05</a:t>
            </a:r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909" y="105469"/>
            <a:ext cx="238125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74495" y="66559"/>
            <a:ext cx="4000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计算机与人工智能学院</a:t>
            </a:r>
            <a:endParaRPr lang="zh-CN" altLang="en-US" sz="2400" b="1" dirty="0">
              <a:solidFill>
                <a:schemeClr val="tx2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03800" y="67691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总结与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展望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4000"/>
    </mc:Choice>
    <mc:Fallback>
      <p:transition spd="slow" advClick="0" advTm="4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696615"/>
            <a:ext cx="12207240" cy="416014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7280"/>
            <a:endParaRPr lang="zh-CN" altLang="en-US" sz="2160" dirty="0">
              <a:solidFill>
                <a:prstClr val="white"/>
              </a:solidFill>
              <a:latin typeface="Calibri" panose="020F0502020204030204"/>
              <a:ea typeface="幼圆" panose="02010509060101010101" charset="-122"/>
            </a:endParaRPr>
          </a:p>
        </p:txBody>
      </p:sp>
      <p:sp>
        <p:nvSpPr>
          <p:cNvPr id="5" name="文本框 6"/>
          <p:cNvSpPr>
            <a:spLocks noChangeArrowheads="1"/>
          </p:cNvSpPr>
          <p:nvPr/>
        </p:nvSpPr>
        <p:spPr bwMode="auto">
          <a:xfrm>
            <a:off x="3617595" y="3365500"/>
            <a:ext cx="5450840" cy="1896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77" tIns="41139" rIns="82277" bIns="41139">
            <a:noAutofit/>
          </a:bodyPr>
          <a:lstStyle/>
          <a:p>
            <a:pPr algn="just" defTabSz="1097280"/>
            <a:r>
              <a:rPr lang="en-US" altLang="zh-CN" sz="48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     </a:t>
            </a:r>
            <a:r>
              <a:rPr lang="zh-CN" altLang="en-US" sz="48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谢谢聆听</a:t>
            </a:r>
            <a:r>
              <a:rPr lang="en-US" altLang="zh-CN" sz="48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 </a:t>
            </a:r>
            <a:endParaRPr lang="en-US" altLang="zh-CN" sz="4800" b="1" spc="36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  <a:p>
            <a:pPr algn="just" defTabSz="1097280"/>
            <a:r>
              <a:rPr lang="zh-CN" altLang="en-US" sz="4800" b="1" spc="36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egoe UI" panose="020B0502040204020203" pitchFamily="34" charset="0"/>
              </a:rPr>
              <a:t>请老师批评指正！</a:t>
            </a:r>
            <a:endParaRPr lang="zh-CN" altLang="en-US" sz="4800" b="1" spc="36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  <a:p>
            <a:pPr algn="just" defTabSz="1097280"/>
            <a:endParaRPr lang="zh-CN" altLang="en-US" sz="4800" b="1" spc="36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egoe UI" panose="020B0502040204020203" pitchFamily="34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823104" y="5465260"/>
            <a:ext cx="3869758" cy="497207"/>
            <a:chOff x="773458" y="3742767"/>
            <a:chExt cx="3224796" cy="414338"/>
          </a:xfrm>
        </p:grpSpPr>
        <p:sp>
          <p:nvSpPr>
            <p:cNvPr id="51" name="文本框 9"/>
            <p:cNvSpPr txBox="1"/>
            <p:nvPr/>
          </p:nvSpPr>
          <p:spPr>
            <a:xfrm>
              <a:off x="1185414" y="3811436"/>
              <a:ext cx="2812840" cy="315470"/>
            </a:xfrm>
            <a:prstGeom prst="rect">
              <a:avLst/>
            </a:prstGeom>
            <a:noFill/>
          </p:spPr>
          <p:txBody>
            <a:bodyPr wrap="none" lIns="82296" tIns="41148" rIns="82296" bIns="41148" rtlCol="0">
              <a:spAutoFit/>
            </a:bodyPr>
            <a:lstStyle/>
            <a:p>
              <a:pPr defTabSz="1097280"/>
              <a:r>
                <a:rPr lang="zh-CN" altLang="en-US" sz="192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学院：计算机与人工智能学院</a:t>
              </a:r>
              <a:endParaRPr lang="zh-CN" altLang="en-US" sz="192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773458" y="3742767"/>
              <a:ext cx="414338" cy="414338"/>
              <a:chOff x="1031277" y="5180856"/>
              <a:chExt cx="552450" cy="552450"/>
            </a:xfrm>
          </p:grpSpPr>
          <p:sp>
            <p:nvSpPr>
              <p:cNvPr id="53" name="椭圆 52"/>
              <p:cNvSpPr/>
              <p:nvPr/>
            </p:nvSpPr>
            <p:spPr>
              <a:xfrm>
                <a:off x="1031277" y="5180856"/>
                <a:ext cx="552450" cy="552450"/>
              </a:xfrm>
              <a:prstGeom prst="ellipse">
                <a:avLst/>
              </a:prstGeom>
              <a:solidFill>
                <a:srgbClr val="FFFFFF">
                  <a:alpha val="6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97280"/>
                <a:endParaRPr lang="zh-CN" altLang="en-US" sz="2160">
                  <a:solidFill>
                    <a:prstClr val="white"/>
                  </a:solidFill>
                  <a:latin typeface="Calibri" panose="020F0502020204030204"/>
                  <a:ea typeface="幼圆" panose="02010509060101010101" charset="-122"/>
                </a:endParaRPr>
              </a:p>
            </p:txBody>
          </p:sp>
          <p:sp>
            <p:nvSpPr>
              <p:cNvPr id="54" name="Freeform 34"/>
              <p:cNvSpPr/>
              <p:nvPr/>
            </p:nvSpPr>
            <p:spPr>
              <a:xfrm flipH="1">
                <a:off x="1130571" y="5313444"/>
                <a:ext cx="328603" cy="249173"/>
              </a:xfrm>
              <a:custGeom>
                <a:avLst/>
                <a:gdLst/>
                <a:ahLst/>
                <a:cxnLst/>
                <a:rect l="l" t="t" r="r" b="b"/>
                <a:pathLst>
                  <a:path w="852601" h="862013">
                    <a:moveTo>
                      <a:pt x="339688" y="551599"/>
                    </a:moveTo>
                    <a:cubicBezTo>
                      <a:pt x="336200" y="550660"/>
                      <a:pt x="332712" y="552270"/>
                      <a:pt x="329224" y="555624"/>
                    </a:cubicBezTo>
                    <a:lnTo>
                      <a:pt x="318760" y="571723"/>
                    </a:lnTo>
                    <a:cubicBezTo>
                      <a:pt x="317687" y="576955"/>
                      <a:pt x="320907" y="582723"/>
                      <a:pt x="322785" y="587017"/>
                    </a:cubicBezTo>
                    <a:cubicBezTo>
                      <a:pt x="324663" y="591310"/>
                      <a:pt x="331370" y="593322"/>
                      <a:pt x="330029" y="597481"/>
                    </a:cubicBezTo>
                    <a:cubicBezTo>
                      <a:pt x="328687" y="601641"/>
                      <a:pt x="318894" y="606739"/>
                      <a:pt x="314735" y="611971"/>
                    </a:cubicBezTo>
                    <a:cubicBezTo>
                      <a:pt x="310576" y="617202"/>
                      <a:pt x="308563" y="620288"/>
                      <a:pt x="303465" y="629679"/>
                    </a:cubicBezTo>
                    <a:cubicBezTo>
                      <a:pt x="298368" y="639070"/>
                      <a:pt x="292062" y="654230"/>
                      <a:pt x="284147" y="668317"/>
                    </a:cubicBezTo>
                    <a:cubicBezTo>
                      <a:pt x="276232" y="682403"/>
                      <a:pt x="261340" y="698637"/>
                      <a:pt x="255974" y="714199"/>
                    </a:cubicBezTo>
                    <a:cubicBezTo>
                      <a:pt x="250607" y="729762"/>
                      <a:pt x="252754" y="745727"/>
                      <a:pt x="251949" y="761691"/>
                    </a:cubicBezTo>
                    <a:cubicBezTo>
                      <a:pt x="251144" y="777656"/>
                      <a:pt x="252351" y="796036"/>
                      <a:pt x="251143" y="809989"/>
                    </a:cubicBezTo>
                    <a:cubicBezTo>
                      <a:pt x="249937" y="823941"/>
                      <a:pt x="245778" y="837357"/>
                      <a:pt x="244705" y="845406"/>
                    </a:cubicBezTo>
                    <a:cubicBezTo>
                      <a:pt x="243631" y="853456"/>
                      <a:pt x="243095" y="855603"/>
                      <a:pt x="244705" y="858286"/>
                    </a:cubicBezTo>
                    <a:cubicBezTo>
                      <a:pt x="245509" y="859627"/>
                      <a:pt x="245945" y="860298"/>
                      <a:pt x="247169" y="860701"/>
                    </a:cubicBezTo>
                    <a:lnTo>
                      <a:pt x="254364" y="861506"/>
                    </a:lnTo>
                    <a:cubicBezTo>
                      <a:pt x="262279" y="862042"/>
                      <a:pt x="277305" y="862310"/>
                      <a:pt x="292196" y="861506"/>
                    </a:cubicBezTo>
                    <a:cubicBezTo>
                      <a:pt x="307088" y="860701"/>
                      <a:pt x="333115" y="857749"/>
                      <a:pt x="343713" y="856676"/>
                    </a:cubicBezTo>
                    <a:cubicBezTo>
                      <a:pt x="343747" y="856684"/>
                      <a:pt x="352708" y="858681"/>
                      <a:pt x="355787" y="855066"/>
                    </a:cubicBezTo>
                    <a:cubicBezTo>
                      <a:pt x="358873" y="851443"/>
                      <a:pt x="361288" y="845675"/>
                      <a:pt x="362227" y="834943"/>
                    </a:cubicBezTo>
                    <a:cubicBezTo>
                      <a:pt x="363166" y="824210"/>
                      <a:pt x="363568" y="808110"/>
                      <a:pt x="361422" y="790670"/>
                    </a:cubicBezTo>
                    <a:cubicBezTo>
                      <a:pt x="359275" y="773229"/>
                      <a:pt x="352299" y="754313"/>
                      <a:pt x="349348" y="730298"/>
                    </a:cubicBezTo>
                    <a:cubicBezTo>
                      <a:pt x="346396" y="706284"/>
                      <a:pt x="344786" y="666439"/>
                      <a:pt x="343713" y="646584"/>
                    </a:cubicBezTo>
                    <a:cubicBezTo>
                      <a:pt x="342640" y="626728"/>
                      <a:pt x="342505" y="619886"/>
                      <a:pt x="342908" y="611166"/>
                    </a:cubicBezTo>
                    <a:cubicBezTo>
                      <a:pt x="343310" y="602446"/>
                      <a:pt x="343713" y="600299"/>
                      <a:pt x="346128" y="594262"/>
                    </a:cubicBezTo>
                    <a:cubicBezTo>
                      <a:pt x="348543" y="588224"/>
                      <a:pt x="356727" y="580443"/>
                      <a:pt x="357397" y="574942"/>
                    </a:cubicBezTo>
                    <a:cubicBezTo>
                      <a:pt x="358068" y="569442"/>
                      <a:pt x="353104" y="565149"/>
                      <a:pt x="350153" y="561258"/>
                    </a:cubicBezTo>
                    <a:close/>
                    <a:moveTo>
                      <a:pt x="287206" y="507649"/>
                    </a:moveTo>
                    <a:cubicBezTo>
                      <a:pt x="299226" y="561742"/>
                      <a:pt x="284201" y="574621"/>
                      <a:pt x="274326" y="617123"/>
                    </a:cubicBezTo>
                    <a:cubicBezTo>
                      <a:pt x="272445" y="626330"/>
                      <a:pt x="270907" y="639718"/>
                      <a:pt x="269556" y="655910"/>
                    </a:cubicBezTo>
                    <a:cubicBezTo>
                      <a:pt x="284442" y="632717"/>
                      <a:pt x="299146" y="601494"/>
                      <a:pt x="316184" y="596515"/>
                    </a:cubicBezTo>
                    <a:cubicBezTo>
                      <a:pt x="314038" y="589217"/>
                      <a:pt x="305451" y="583528"/>
                      <a:pt x="306524" y="574621"/>
                    </a:cubicBezTo>
                    <a:cubicBezTo>
                      <a:pt x="307147" y="563679"/>
                      <a:pt x="314405" y="554950"/>
                      <a:pt x="319949" y="545622"/>
                    </a:cubicBezTo>
                    <a:cubicBezTo>
                      <a:pt x="307786" y="539695"/>
                      <a:pt x="298568" y="525281"/>
                      <a:pt x="287206" y="507649"/>
                    </a:cubicBezTo>
                    <a:close/>
                    <a:moveTo>
                      <a:pt x="264023" y="488330"/>
                    </a:moveTo>
                    <a:cubicBezTo>
                      <a:pt x="251143" y="497345"/>
                      <a:pt x="249856" y="517952"/>
                      <a:pt x="240841" y="523104"/>
                    </a:cubicBezTo>
                    <a:cubicBezTo>
                      <a:pt x="177304" y="542852"/>
                      <a:pt x="103463" y="578055"/>
                      <a:pt x="46365" y="613259"/>
                    </a:cubicBezTo>
                    <a:cubicBezTo>
                      <a:pt x="17601" y="630002"/>
                      <a:pt x="12021" y="649320"/>
                      <a:pt x="6440" y="682806"/>
                    </a:cubicBezTo>
                    <a:lnTo>
                      <a:pt x="0" y="793568"/>
                    </a:lnTo>
                    <a:cubicBezTo>
                      <a:pt x="60532" y="849807"/>
                      <a:pt x="154551" y="840362"/>
                      <a:pt x="230537" y="859252"/>
                    </a:cubicBezTo>
                    <a:cubicBezTo>
                      <a:pt x="242128" y="755359"/>
                      <a:pt x="233113" y="597374"/>
                      <a:pt x="265311" y="542422"/>
                    </a:cubicBezTo>
                    <a:close/>
                    <a:moveTo>
                      <a:pt x="473953" y="438101"/>
                    </a:moveTo>
                    <a:cubicBezTo>
                      <a:pt x="449999" y="476765"/>
                      <a:pt x="395188" y="525303"/>
                      <a:pt x="351750" y="542487"/>
                    </a:cubicBezTo>
                    <a:cubicBezTo>
                      <a:pt x="364570" y="553524"/>
                      <a:pt x="369815" y="566569"/>
                      <a:pt x="371564" y="577519"/>
                    </a:cubicBezTo>
                    <a:cubicBezTo>
                      <a:pt x="371510" y="588305"/>
                      <a:pt x="363407" y="591042"/>
                      <a:pt x="359329" y="597803"/>
                    </a:cubicBezTo>
                    <a:cubicBezTo>
                      <a:pt x="364928" y="652187"/>
                      <a:pt x="355161" y="701683"/>
                      <a:pt x="373271" y="759858"/>
                    </a:cubicBezTo>
                    <a:cubicBezTo>
                      <a:pt x="382583" y="726860"/>
                      <a:pt x="394118" y="694072"/>
                      <a:pt x="406981" y="659624"/>
                    </a:cubicBezTo>
                    <a:cubicBezTo>
                      <a:pt x="434458" y="598661"/>
                      <a:pt x="476100" y="510653"/>
                      <a:pt x="473953" y="438101"/>
                    </a:cubicBezTo>
                    <a:close/>
                    <a:moveTo>
                      <a:pt x="444331" y="425221"/>
                    </a:moveTo>
                    <a:cubicBezTo>
                      <a:pt x="417365" y="457420"/>
                      <a:pt x="365446" y="490423"/>
                      <a:pt x="342908" y="490423"/>
                    </a:cubicBezTo>
                    <a:cubicBezTo>
                      <a:pt x="312722" y="489752"/>
                      <a:pt x="309100" y="473787"/>
                      <a:pt x="292196" y="465469"/>
                    </a:cubicBezTo>
                    <a:cubicBezTo>
                      <a:pt x="308026" y="468152"/>
                      <a:pt x="323455" y="474056"/>
                      <a:pt x="339687" y="473519"/>
                    </a:cubicBezTo>
                    <a:cubicBezTo>
                      <a:pt x="376180" y="473116"/>
                      <a:pt x="416695" y="446955"/>
                      <a:pt x="444331" y="425221"/>
                    </a:cubicBezTo>
                    <a:close/>
                    <a:moveTo>
                      <a:pt x="488121" y="409767"/>
                    </a:moveTo>
                    <a:cubicBezTo>
                      <a:pt x="533198" y="465576"/>
                      <a:pt x="410846" y="692681"/>
                      <a:pt x="376072" y="855388"/>
                    </a:cubicBezTo>
                    <a:cubicBezTo>
                      <a:pt x="489409" y="838216"/>
                      <a:pt x="600169" y="850665"/>
                      <a:pt x="716082" y="803871"/>
                    </a:cubicBezTo>
                    <a:cubicBezTo>
                      <a:pt x="761588" y="800437"/>
                      <a:pt x="808382" y="816321"/>
                      <a:pt x="852601" y="793568"/>
                    </a:cubicBezTo>
                    <a:cubicBezTo>
                      <a:pt x="845303" y="743338"/>
                      <a:pt x="867627" y="646745"/>
                      <a:pt x="772750" y="588788"/>
                    </a:cubicBezTo>
                    <a:cubicBezTo>
                      <a:pt x="729391" y="552726"/>
                      <a:pt x="648681" y="519241"/>
                      <a:pt x="565395" y="492193"/>
                    </a:cubicBezTo>
                    <a:cubicBezTo>
                      <a:pt x="534486" y="468582"/>
                      <a:pt x="515167" y="433379"/>
                      <a:pt x="488121" y="409767"/>
                    </a:cubicBezTo>
                    <a:close/>
                    <a:moveTo>
                      <a:pt x="314467" y="207"/>
                    </a:moveTo>
                    <a:cubicBezTo>
                      <a:pt x="302302" y="922"/>
                      <a:pt x="297652" y="4142"/>
                      <a:pt x="285488" y="8794"/>
                    </a:cubicBezTo>
                    <a:cubicBezTo>
                      <a:pt x="273325" y="13444"/>
                      <a:pt x="253826" y="20241"/>
                      <a:pt x="241485" y="28112"/>
                    </a:cubicBezTo>
                    <a:cubicBezTo>
                      <a:pt x="229142" y="35983"/>
                      <a:pt x="220377" y="43853"/>
                      <a:pt x="211433" y="56017"/>
                    </a:cubicBezTo>
                    <a:cubicBezTo>
                      <a:pt x="202489" y="68180"/>
                      <a:pt x="193724" y="87320"/>
                      <a:pt x="187821" y="101095"/>
                    </a:cubicBezTo>
                    <a:cubicBezTo>
                      <a:pt x="181919" y="114868"/>
                      <a:pt x="176194" y="121665"/>
                      <a:pt x="176015" y="138658"/>
                    </a:cubicBezTo>
                    <a:cubicBezTo>
                      <a:pt x="175837" y="155652"/>
                      <a:pt x="182813" y="191249"/>
                      <a:pt x="186748" y="203055"/>
                    </a:cubicBezTo>
                    <a:lnTo>
                      <a:pt x="187520" y="204007"/>
                    </a:lnTo>
                    <a:lnTo>
                      <a:pt x="191027" y="223887"/>
                    </a:lnTo>
                    <a:cubicBezTo>
                      <a:pt x="185407" y="222374"/>
                      <a:pt x="182724" y="232570"/>
                      <a:pt x="184333" y="241693"/>
                    </a:cubicBezTo>
                    <a:cubicBezTo>
                      <a:pt x="185943" y="250815"/>
                      <a:pt x="196139" y="265841"/>
                      <a:pt x="198822" y="277111"/>
                    </a:cubicBezTo>
                    <a:cubicBezTo>
                      <a:pt x="201505" y="288380"/>
                      <a:pt x="200298" y="299113"/>
                      <a:pt x="200432" y="309308"/>
                    </a:cubicBezTo>
                    <a:cubicBezTo>
                      <a:pt x="200566" y="319505"/>
                      <a:pt x="198285" y="331579"/>
                      <a:pt x="199627" y="338286"/>
                    </a:cubicBezTo>
                    <a:cubicBezTo>
                      <a:pt x="200969" y="344995"/>
                      <a:pt x="205128" y="346739"/>
                      <a:pt x="208482" y="349556"/>
                    </a:cubicBezTo>
                    <a:cubicBezTo>
                      <a:pt x="211836" y="352373"/>
                      <a:pt x="218275" y="343385"/>
                      <a:pt x="219751" y="355191"/>
                    </a:cubicBezTo>
                    <a:cubicBezTo>
                      <a:pt x="221227" y="366997"/>
                      <a:pt x="229008" y="395036"/>
                      <a:pt x="236655" y="410733"/>
                    </a:cubicBezTo>
                    <a:cubicBezTo>
                      <a:pt x="244301" y="426429"/>
                      <a:pt x="259999" y="439845"/>
                      <a:pt x="265633" y="449370"/>
                    </a:cubicBezTo>
                    <a:cubicBezTo>
                      <a:pt x="271268" y="458895"/>
                      <a:pt x="266438" y="460372"/>
                      <a:pt x="270463" y="467884"/>
                    </a:cubicBezTo>
                    <a:cubicBezTo>
                      <a:pt x="274487" y="475397"/>
                      <a:pt x="281330" y="484118"/>
                      <a:pt x="289781" y="494447"/>
                    </a:cubicBezTo>
                    <a:cubicBezTo>
                      <a:pt x="298233" y="504778"/>
                      <a:pt x="311246" y="524097"/>
                      <a:pt x="321175" y="529866"/>
                    </a:cubicBezTo>
                    <a:cubicBezTo>
                      <a:pt x="331102" y="535634"/>
                      <a:pt x="333383" y="536305"/>
                      <a:pt x="349348" y="529061"/>
                    </a:cubicBezTo>
                    <a:cubicBezTo>
                      <a:pt x="365312" y="521816"/>
                      <a:pt x="399657" y="499680"/>
                      <a:pt x="416963" y="486398"/>
                    </a:cubicBezTo>
                    <a:cubicBezTo>
                      <a:pt x="434270" y="473116"/>
                      <a:pt x="444331" y="459298"/>
                      <a:pt x="453186" y="449370"/>
                    </a:cubicBezTo>
                    <a:cubicBezTo>
                      <a:pt x="462041" y="439443"/>
                      <a:pt x="466601" y="434746"/>
                      <a:pt x="470089" y="426831"/>
                    </a:cubicBezTo>
                    <a:cubicBezTo>
                      <a:pt x="473577" y="418917"/>
                      <a:pt x="471968" y="409526"/>
                      <a:pt x="474115" y="401878"/>
                    </a:cubicBezTo>
                    <a:cubicBezTo>
                      <a:pt x="476261" y="394231"/>
                      <a:pt x="480688" y="390341"/>
                      <a:pt x="482969" y="380949"/>
                    </a:cubicBezTo>
                    <a:cubicBezTo>
                      <a:pt x="485249" y="371558"/>
                      <a:pt x="484847" y="352373"/>
                      <a:pt x="487799" y="345532"/>
                    </a:cubicBezTo>
                    <a:cubicBezTo>
                      <a:pt x="490750" y="338689"/>
                      <a:pt x="496788" y="343787"/>
                      <a:pt x="500678" y="339897"/>
                    </a:cubicBezTo>
                    <a:cubicBezTo>
                      <a:pt x="504569" y="336006"/>
                      <a:pt x="508996" y="331177"/>
                      <a:pt x="511142" y="322188"/>
                    </a:cubicBezTo>
                    <a:cubicBezTo>
                      <a:pt x="513289" y="313199"/>
                      <a:pt x="511947" y="299515"/>
                      <a:pt x="513557" y="285965"/>
                    </a:cubicBezTo>
                    <a:cubicBezTo>
                      <a:pt x="515167" y="272415"/>
                      <a:pt x="520131" y="252425"/>
                      <a:pt x="520801" y="240888"/>
                    </a:cubicBezTo>
                    <a:cubicBezTo>
                      <a:pt x="521473" y="229350"/>
                      <a:pt x="520131" y="222508"/>
                      <a:pt x="517582" y="216739"/>
                    </a:cubicBezTo>
                    <a:lnTo>
                      <a:pt x="505508" y="206274"/>
                    </a:lnTo>
                    <a:cubicBezTo>
                      <a:pt x="501482" y="205872"/>
                      <a:pt x="496788" y="209897"/>
                      <a:pt x="493433" y="214324"/>
                    </a:cubicBezTo>
                    <a:cubicBezTo>
                      <a:pt x="490893" y="217677"/>
                      <a:pt x="489661" y="229032"/>
                      <a:pt x="487525" y="232413"/>
                    </a:cubicBezTo>
                    <a:lnTo>
                      <a:pt x="486770" y="223363"/>
                    </a:lnTo>
                    <a:lnTo>
                      <a:pt x="488165" y="195462"/>
                    </a:lnTo>
                    <a:lnTo>
                      <a:pt x="490482" y="198762"/>
                    </a:lnTo>
                    <a:cubicBezTo>
                      <a:pt x="492986" y="200550"/>
                      <a:pt x="494238" y="195185"/>
                      <a:pt x="496921" y="194469"/>
                    </a:cubicBezTo>
                    <a:cubicBezTo>
                      <a:pt x="499604" y="193754"/>
                      <a:pt x="503002" y="193217"/>
                      <a:pt x="506581" y="194469"/>
                    </a:cubicBezTo>
                    <a:cubicBezTo>
                      <a:pt x="510158" y="195721"/>
                      <a:pt x="516419" y="202876"/>
                      <a:pt x="518386" y="201981"/>
                    </a:cubicBezTo>
                    <a:cubicBezTo>
                      <a:pt x="519370" y="201534"/>
                      <a:pt x="519370" y="200774"/>
                      <a:pt x="519124" y="198896"/>
                    </a:cubicBezTo>
                    <a:lnTo>
                      <a:pt x="518386" y="189102"/>
                    </a:lnTo>
                    <a:cubicBezTo>
                      <a:pt x="518391" y="189053"/>
                      <a:pt x="521603" y="159753"/>
                      <a:pt x="518386" y="142952"/>
                    </a:cubicBezTo>
                    <a:cubicBezTo>
                      <a:pt x="515167" y="126137"/>
                      <a:pt x="506760" y="103778"/>
                      <a:pt x="499068" y="88215"/>
                    </a:cubicBezTo>
                    <a:cubicBezTo>
                      <a:pt x="491376" y="72652"/>
                      <a:pt x="479213" y="57627"/>
                      <a:pt x="472236" y="49577"/>
                    </a:cubicBezTo>
                    <a:cubicBezTo>
                      <a:pt x="465260" y="41528"/>
                      <a:pt x="466154" y="44211"/>
                      <a:pt x="457210" y="39918"/>
                    </a:cubicBezTo>
                    <a:cubicBezTo>
                      <a:pt x="448266" y="35625"/>
                      <a:pt x="435030" y="29722"/>
                      <a:pt x="418572" y="23818"/>
                    </a:cubicBezTo>
                    <a:cubicBezTo>
                      <a:pt x="402117" y="17916"/>
                      <a:pt x="375821" y="8435"/>
                      <a:pt x="358470" y="4500"/>
                    </a:cubicBezTo>
                    <a:cubicBezTo>
                      <a:pt x="341118" y="564"/>
                      <a:pt x="326630" y="-509"/>
                      <a:pt x="314467" y="207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2303" tIns="41153" rIns="82303" bIns="41153" rtlCol="0" anchor="ctr"/>
              <a:lstStyle/>
              <a:p>
                <a:pPr algn="ctr" defTabSz="617220"/>
                <a:endParaRPr lang="en-US" sz="2160" dirty="0">
                  <a:solidFill>
                    <a:prstClr val="white"/>
                  </a:solidFill>
                  <a:latin typeface="微软雅黑" panose="020B0503020204020204" pitchFamily="34" charset="-122"/>
                  <a:ea typeface="幼圆" panose="02010509060101010101" charset="-122"/>
                </a:endParaRPr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2536014" y="5462845"/>
            <a:ext cx="3307347" cy="497207"/>
            <a:chOff x="2953483" y="3742767"/>
            <a:chExt cx="2756119" cy="414338"/>
          </a:xfrm>
        </p:grpSpPr>
        <p:sp>
          <p:nvSpPr>
            <p:cNvPr id="56" name="文本框 8"/>
            <p:cNvSpPr txBox="1"/>
            <p:nvPr/>
          </p:nvSpPr>
          <p:spPr>
            <a:xfrm>
              <a:off x="3541080" y="3777575"/>
              <a:ext cx="2168522" cy="313266"/>
            </a:xfrm>
            <a:prstGeom prst="rect">
              <a:avLst/>
            </a:prstGeom>
            <a:noFill/>
          </p:spPr>
          <p:txBody>
            <a:bodyPr wrap="none" lIns="82296" tIns="41148" rIns="82296" bIns="41148" rtlCol="0">
              <a:spAutoFit/>
            </a:bodyPr>
            <a:lstStyle/>
            <a:p>
              <a:pPr defTabSz="1097280"/>
              <a:r>
                <a:rPr lang="zh-CN" altLang="en-US" sz="192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汇报人：田韵、</a:t>
              </a:r>
              <a:r>
                <a:rPr lang="zh-CN" altLang="en-US" sz="192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匡欣怡</a:t>
              </a:r>
              <a:endParaRPr lang="zh-CN" altLang="en-US" sz="192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2953483" y="3742767"/>
              <a:ext cx="414338" cy="414338"/>
              <a:chOff x="3937978" y="5180856"/>
              <a:chExt cx="552450" cy="552450"/>
            </a:xfrm>
          </p:grpSpPr>
          <p:sp>
            <p:nvSpPr>
              <p:cNvPr id="58" name="椭圆 57"/>
              <p:cNvSpPr/>
              <p:nvPr/>
            </p:nvSpPr>
            <p:spPr>
              <a:xfrm>
                <a:off x="3937978" y="5180856"/>
                <a:ext cx="552450" cy="552450"/>
              </a:xfrm>
              <a:prstGeom prst="ellipse">
                <a:avLst/>
              </a:prstGeom>
              <a:solidFill>
                <a:srgbClr val="FFFFFF">
                  <a:alpha val="6117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097280"/>
                <a:r>
                  <a:rPr lang="en-US" altLang="zh-CN" sz="21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rPr>
                  <a:t>X</a:t>
                </a:r>
                <a:endParaRPr lang="zh-CN" altLang="en-US" sz="2160" dirty="0">
                  <a:solidFill>
                    <a:prstClr val="white"/>
                  </a:solidFill>
                  <a:latin typeface="Calibri" panose="020F0502020204030204"/>
                  <a:ea typeface="幼圆" panose="02010509060101010101" charset="-122"/>
                </a:endParaRPr>
              </a:p>
            </p:txBody>
          </p:sp>
          <p:grpSp>
            <p:nvGrpSpPr>
              <p:cNvPr id="59" name="Group 38"/>
              <p:cNvGrpSpPr/>
              <p:nvPr/>
            </p:nvGrpSpPr>
            <p:grpSpPr>
              <a:xfrm>
                <a:off x="4022991" y="5324161"/>
                <a:ext cx="348415" cy="247981"/>
                <a:chOff x="5326857" y="2779521"/>
                <a:chExt cx="2283619" cy="2167129"/>
              </a:xfrm>
              <a:solidFill>
                <a:schemeClr val="bg1"/>
              </a:solidFill>
            </p:grpSpPr>
            <p:sp>
              <p:nvSpPr>
                <p:cNvPr id="60" name="Freeform 45"/>
                <p:cNvSpPr/>
                <p:nvPr/>
              </p:nvSpPr>
              <p:spPr>
                <a:xfrm>
                  <a:off x="5326857" y="3228975"/>
                  <a:ext cx="1147085" cy="1083469"/>
                </a:xfrm>
                <a:custGeom>
                  <a:avLst/>
                  <a:gdLst>
                    <a:gd name="connsiteX0" fmla="*/ 1090612 w 1147085"/>
                    <a:gd name="connsiteY0" fmla="*/ 0 h 1083469"/>
                    <a:gd name="connsiteX1" fmla="*/ 1147085 w 1147085"/>
                    <a:gd name="connsiteY1" fmla="*/ 460567 h 1083469"/>
                    <a:gd name="connsiteX2" fmla="*/ 1078295 w 1147085"/>
                    <a:gd name="connsiteY2" fmla="*/ 504743 h 1083469"/>
                    <a:gd name="connsiteX3" fmla="*/ 1025237 w 1147085"/>
                    <a:gd name="connsiteY3" fmla="*/ 72025 h 1083469"/>
                    <a:gd name="connsiteX4" fmla="*/ 79622 w 1147085"/>
                    <a:gd name="connsiteY4" fmla="*/ 171129 h 1083469"/>
                    <a:gd name="connsiteX5" fmla="*/ 186985 w 1147085"/>
                    <a:gd name="connsiteY5" fmla="*/ 990798 h 1083469"/>
                    <a:gd name="connsiteX6" fmla="*/ 186985 w 1147085"/>
                    <a:gd name="connsiteY6" fmla="*/ 1011445 h 1083469"/>
                    <a:gd name="connsiteX7" fmla="*/ 977729 w 1147085"/>
                    <a:gd name="connsiteY7" fmla="*/ 857154 h 1083469"/>
                    <a:gd name="connsiteX8" fmla="*/ 977729 w 1147085"/>
                    <a:gd name="connsiteY8" fmla="*/ 916854 h 1083469"/>
                    <a:gd name="connsiteX9" fmla="*/ 123825 w 1147085"/>
                    <a:gd name="connsiteY9" fmla="*/ 1083469 h 1083469"/>
                    <a:gd name="connsiteX10" fmla="*/ 0 w 1147085"/>
                    <a:gd name="connsiteY10" fmla="*/ 114300 h 1083469"/>
                    <a:gd name="connsiteX11" fmla="*/ 1090612 w 1147085"/>
                    <a:gd name="connsiteY11" fmla="*/ 0 h 1083469"/>
                    <a:gd name="connsiteX0-1" fmla="*/ 1090612 w 1147085"/>
                    <a:gd name="connsiteY0-2" fmla="*/ 0 h 1083469"/>
                    <a:gd name="connsiteX1-3" fmla="*/ 1147085 w 1147085"/>
                    <a:gd name="connsiteY1-4" fmla="*/ 460567 h 1083469"/>
                    <a:gd name="connsiteX2-5" fmla="*/ 1078295 w 1147085"/>
                    <a:gd name="connsiteY2-6" fmla="*/ 504743 h 1083469"/>
                    <a:gd name="connsiteX3-7" fmla="*/ 1025237 w 1147085"/>
                    <a:gd name="connsiteY3-8" fmla="*/ 72025 h 1083469"/>
                    <a:gd name="connsiteX4-9" fmla="*/ 79622 w 1147085"/>
                    <a:gd name="connsiteY4-10" fmla="*/ 171129 h 1083469"/>
                    <a:gd name="connsiteX5-11" fmla="*/ 186985 w 1147085"/>
                    <a:gd name="connsiteY5-12" fmla="*/ 1011445 h 1083469"/>
                    <a:gd name="connsiteX6-13" fmla="*/ 977729 w 1147085"/>
                    <a:gd name="connsiteY6-14" fmla="*/ 857154 h 1083469"/>
                    <a:gd name="connsiteX7-15" fmla="*/ 977729 w 1147085"/>
                    <a:gd name="connsiteY7-16" fmla="*/ 916854 h 1083469"/>
                    <a:gd name="connsiteX8-17" fmla="*/ 123825 w 1147085"/>
                    <a:gd name="connsiteY8-18" fmla="*/ 1083469 h 1083469"/>
                    <a:gd name="connsiteX9-19" fmla="*/ 0 w 1147085"/>
                    <a:gd name="connsiteY9-20" fmla="*/ 114300 h 1083469"/>
                    <a:gd name="connsiteX10-21" fmla="*/ 1090612 w 1147085"/>
                    <a:gd name="connsiteY10-22" fmla="*/ 0 h 108346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1147085" h="1083469">
                      <a:moveTo>
                        <a:pt x="1090612" y="0"/>
                      </a:moveTo>
                      <a:lnTo>
                        <a:pt x="1147085" y="460567"/>
                      </a:lnTo>
                      <a:cubicBezTo>
                        <a:pt x="1121629" y="471368"/>
                        <a:pt x="1098257" y="486098"/>
                        <a:pt x="1078295" y="504743"/>
                      </a:cubicBezTo>
                      <a:lnTo>
                        <a:pt x="1025237" y="72025"/>
                      </a:lnTo>
                      <a:lnTo>
                        <a:pt x="79622" y="171129"/>
                      </a:lnTo>
                      <a:lnTo>
                        <a:pt x="186985" y="1011445"/>
                      </a:lnTo>
                      <a:lnTo>
                        <a:pt x="977729" y="857154"/>
                      </a:lnTo>
                      <a:lnTo>
                        <a:pt x="977729" y="916854"/>
                      </a:lnTo>
                      <a:lnTo>
                        <a:pt x="123825" y="1083469"/>
                      </a:lnTo>
                      <a:lnTo>
                        <a:pt x="0" y="114300"/>
                      </a:lnTo>
                      <a:lnTo>
                        <a:pt x="1090612" y="0"/>
                      </a:ln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1" name="Oval 23"/>
                <p:cNvSpPr/>
                <p:nvPr/>
              </p:nvSpPr>
              <p:spPr bwMode="auto">
                <a:xfrm>
                  <a:off x="5472973" y="4217016"/>
                  <a:ext cx="831613" cy="515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613" h="515322">
                      <a:moveTo>
                        <a:pt x="656506" y="0"/>
                      </a:moveTo>
                      <a:cubicBezTo>
                        <a:pt x="722980" y="12459"/>
                        <a:pt x="782484" y="33487"/>
                        <a:pt x="831613" y="60220"/>
                      </a:cubicBezTo>
                      <a:lnTo>
                        <a:pt x="831613" y="156807"/>
                      </a:lnTo>
                      <a:lnTo>
                        <a:pt x="790343" y="156807"/>
                      </a:lnTo>
                      <a:cubicBezTo>
                        <a:pt x="689578" y="156807"/>
                        <a:pt x="607892" y="247187"/>
                        <a:pt x="607892" y="358678"/>
                      </a:cubicBezTo>
                      <a:cubicBezTo>
                        <a:pt x="607892" y="412735"/>
                        <a:pt x="627095" y="461830"/>
                        <a:pt x="658968" y="497546"/>
                      </a:cubicBezTo>
                      <a:cubicBezTo>
                        <a:pt x="605816" y="509342"/>
                        <a:pt x="548050" y="515322"/>
                        <a:pt x="487726" y="515322"/>
                      </a:cubicBezTo>
                      <a:cubicBezTo>
                        <a:pt x="218362" y="515322"/>
                        <a:pt x="0" y="396081"/>
                        <a:pt x="0" y="248990"/>
                      </a:cubicBezTo>
                      <a:cubicBezTo>
                        <a:pt x="0" y="198934"/>
                        <a:pt x="25288" y="152104"/>
                        <a:pt x="70263" y="113194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2" name="Rounded Rectangle 13"/>
                <p:cNvSpPr/>
                <p:nvPr/>
              </p:nvSpPr>
              <p:spPr bwMode="auto">
                <a:xfrm>
                  <a:off x="6127748" y="3705225"/>
                  <a:ext cx="1375518" cy="124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518" h="1241425">
                      <a:moveTo>
                        <a:pt x="880211" y="0"/>
                      </a:moveTo>
                      <a:lnTo>
                        <a:pt x="1125002" y="0"/>
                      </a:lnTo>
                      <a:cubicBezTo>
                        <a:pt x="1202113" y="0"/>
                        <a:pt x="1271265" y="34077"/>
                        <a:pt x="1317403" y="88704"/>
                      </a:cubicBezTo>
                      <a:cubicBezTo>
                        <a:pt x="1244331" y="103169"/>
                        <a:pt x="1190628" y="168346"/>
                        <a:pt x="1190628" y="246066"/>
                      </a:cubicBezTo>
                      <a:lnTo>
                        <a:pt x="1190628" y="708029"/>
                      </a:lnTo>
                      <a:lnTo>
                        <a:pt x="929175" y="708029"/>
                      </a:lnTo>
                      <a:lnTo>
                        <a:pt x="803618" y="172438"/>
                      </a:lnTo>
                      <a:close/>
                      <a:moveTo>
                        <a:pt x="481554" y="0"/>
                      </a:moveTo>
                      <a:lnTo>
                        <a:pt x="726347" y="0"/>
                      </a:lnTo>
                      <a:lnTo>
                        <a:pt x="802940" y="172436"/>
                      </a:lnTo>
                      <a:lnTo>
                        <a:pt x="674361" y="720915"/>
                      </a:lnTo>
                      <a:cubicBezTo>
                        <a:pt x="614856" y="745801"/>
                        <a:pt x="573090" y="804586"/>
                        <a:pt x="573090" y="873128"/>
                      </a:cubicBezTo>
                      <a:cubicBezTo>
                        <a:pt x="573090" y="964310"/>
                        <a:pt x="647007" y="1038227"/>
                        <a:pt x="738189" y="1038227"/>
                      </a:cubicBezTo>
                      <a:lnTo>
                        <a:pt x="1375518" y="1038227"/>
                      </a:lnTo>
                      <a:cubicBezTo>
                        <a:pt x="1351252" y="1154299"/>
                        <a:pt x="1248302" y="1241425"/>
                        <a:pt x="1125002" y="1241425"/>
                      </a:cubicBezTo>
                      <a:lnTo>
                        <a:pt x="481554" y="1241425"/>
                      </a:lnTo>
                      <a:cubicBezTo>
                        <a:pt x="358254" y="1241425"/>
                        <a:pt x="255302" y="1154298"/>
                        <a:pt x="231037" y="1038224"/>
                      </a:cubicBezTo>
                      <a:lnTo>
                        <a:pt x="165099" y="1038224"/>
                      </a:lnTo>
                      <a:cubicBezTo>
                        <a:pt x="73917" y="1038224"/>
                        <a:pt x="0" y="964307"/>
                        <a:pt x="0" y="873125"/>
                      </a:cubicBezTo>
                      <a:cubicBezTo>
                        <a:pt x="0" y="781943"/>
                        <a:pt x="73917" y="708026"/>
                        <a:pt x="165099" y="708026"/>
                      </a:cubicBezTo>
                      <a:lnTo>
                        <a:pt x="225428" y="708026"/>
                      </a:lnTo>
                      <a:lnTo>
                        <a:pt x="225428" y="256126"/>
                      </a:lnTo>
                      <a:cubicBezTo>
                        <a:pt x="225428" y="114672"/>
                        <a:pt x="340100" y="0"/>
                        <a:pt x="481554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3" name="Oval 57"/>
                <p:cNvSpPr/>
                <p:nvPr/>
              </p:nvSpPr>
              <p:spPr bwMode="auto">
                <a:xfrm>
                  <a:off x="6524624" y="2779521"/>
                  <a:ext cx="835025" cy="835025"/>
                </a:xfrm>
                <a:prstGeom prst="ellips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  <p:sp>
              <p:nvSpPr>
                <p:cNvPr id="64" name="Rounded Rectangle 14"/>
                <p:cNvSpPr/>
                <p:nvPr/>
              </p:nvSpPr>
              <p:spPr bwMode="auto">
                <a:xfrm>
                  <a:off x="6740522" y="3829050"/>
                  <a:ext cx="869954" cy="874713"/>
                </a:xfrm>
                <a:custGeom>
                  <a:avLst/>
                  <a:gdLst>
                    <a:gd name="connsiteX0" fmla="*/ 744540 w 869954"/>
                    <a:gd name="connsiteY0" fmla="*/ 0 h 874713"/>
                    <a:gd name="connsiteX1" fmla="*/ 869954 w 869954"/>
                    <a:gd name="connsiteY1" fmla="*/ 125414 h 874713"/>
                    <a:gd name="connsiteX2" fmla="*/ 869953 w 869954"/>
                    <a:gd name="connsiteY2" fmla="*/ 706437 h 874713"/>
                    <a:gd name="connsiteX3" fmla="*/ 869952 w 869954"/>
                    <a:gd name="connsiteY3" fmla="*/ 749299 h 874713"/>
                    <a:gd name="connsiteX4" fmla="*/ 744538 w 869954"/>
                    <a:gd name="connsiteY4" fmla="*/ 874713 h 874713"/>
                    <a:gd name="connsiteX5" fmla="*/ 125414 w 869954"/>
                    <a:gd name="connsiteY5" fmla="*/ 874712 h 874713"/>
                    <a:gd name="connsiteX6" fmla="*/ 0 w 869954"/>
                    <a:gd name="connsiteY6" fmla="*/ 749298 h 874713"/>
                    <a:gd name="connsiteX7" fmla="*/ 1 w 869954"/>
                    <a:gd name="connsiteY7" fmla="*/ 749299 h 874713"/>
                    <a:gd name="connsiteX8" fmla="*/ 125415 w 869954"/>
                    <a:gd name="connsiteY8" fmla="*/ 623885 h 874713"/>
                    <a:gd name="connsiteX9" fmla="*/ 619126 w 869954"/>
                    <a:gd name="connsiteY9" fmla="*/ 623885 h 874713"/>
                    <a:gd name="connsiteX10" fmla="*/ 619126 w 869954"/>
                    <a:gd name="connsiteY10" fmla="*/ 125414 h 874713"/>
                    <a:gd name="connsiteX11" fmla="*/ 744540 w 869954"/>
                    <a:gd name="connsiteY11" fmla="*/ 0 h 874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69954" h="874713">
                      <a:moveTo>
                        <a:pt x="744540" y="0"/>
                      </a:moveTo>
                      <a:cubicBezTo>
                        <a:pt x="813804" y="0"/>
                        <a:pt x="869954" y="56150"/>
                        <a:pt x="869954" y="125414"/>
                      </a:cubicBezTo>
                      <a:cubicBezTo>
                        <a:pt x="869954" y="319088"/>
                        <a:pt x="869953" y="512763"/>
                        <a:pt x="869953" y="706437"/>
                      </a:cubicBezTo>
                      <a:cubicBezTo>
                        <a:pt x="869953" y="720724"/>
                        <a:pt x="869952" y="735012"/>
                        <a:pt x="869952" y="749299"/>
                      </a:cubicBezTo>
                      <a:cubicBezTo>
                        <a:pt x="869952" y="818563"/>
                        <a:pt x="813802" y="874713"/>
                        <a:pt x="744538" y="874713"/>
                      </a:cubicBezTo>
                      <a:lnTo>
                        <a:pt x="125414" y="874712"/>
                      </a:lnTo>
                      <a:cubicBezTo>
                        <a:pt x="56150" y="874712"/>
                        <a:pt x="0" y="818562"/>
                        <a:pt x="0" y="749298"/>
                      </a:cubicBezTo>
                      <a:lnTo>
                        <a:pt x="1" y="749299"/>
                      </a:lnTo>
                      <a:cubicBezTo>
                        <a:pt x="1" y="680035"/>
                        <a:pt x="56151" y="623885"/>
                        <a:pt x="125415" y="623885"/>
                      </a:cubicBezTo>
                      <a:lnTo>
                        <a:pt x="619126" y="623885"/>
                      </a:lnTo>
                      <a:lnTo>
                        <a:pt x="619126" y="125414"/>
                      </a:lnTo>
                      <a:cubicBezTo>
                        <a:pt x="619126" y="56150"/>
                        <a:pt x="675276" y="0"/>
                        <a:pt x="744540" y="0"/>
                      </a:cubicBezTo>
                      <a:close/>
                    </a:path>
                  </a:pathLst>
                </a:custGeom>
                <a:solidFill>
                  <a:schemeClr val="tx2">
                    <a:lumMod val="75000"/>
                  </a:schemeClr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vert="horz" wrap="square" lIns="109723" tIns="54863" rIns="109723" bIns="54863" numCol="1" rtlCol="0" anchor="ctr" anchorCtr="0" compatLnSpc="1"/>
                <a:lstStyle/>
                <a:p>
                  <a:pPr algn="ctr" defTabSz="61722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560" dirty="0">
                    <a:solidFill>
                      <a:prstClr val="white"/>
                    </a:solidFill>
                    <a:latin typeface="Calibri" panose="020F0502020204030204"/>
                    <a:ea typeface="幼圆" panose="02010509060101010101" charset="-122"/>
                  </a:endParaRPr>
                </a:p>
              </p:txBody>
            </p:sp>
          </p:grpSp>
        </p:grpSp>
      </p:grpSp>
      <p:pic>
        <p:nvPicPr>
          <p:cNvPr id="67" name="图片 6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77" y="1193399"/>
            <a:ext cx="2100869" cy="21008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1000"/>
    </mc:Choice>
    <mc:Fallback>
      <p:transition spd="slow" advClick="0" advTm="1100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2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3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4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5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6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7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8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9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0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1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2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3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4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5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0.2384251968504}"/>
</p:tagLst>
</file>

<file path=ppt/tags/tag16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17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18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19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0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1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2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3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4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5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6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7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8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29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30.xml><?xml version="1.0" encoding="utf-8"?>
<p:tagLst xmlns:p="http://schemas.openxmlformats.org/presentationml/2006/main">
  <p:tag name="KSO_WM_DIAGRAM_VIRTUALLY_FRAME" val="{&quot;height&quot;:315.6644094488189,&quot;left&quot;:510.33314960629923,&quot;top&quot;:97.61346456692914,&quot;width&quot;:357.1972440944881}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,&quot;colorType&quot;:1,&quot;foreColorIndex&quot;:5,&quot;pos&quot;:0,&quot;transparency&quot;:0.8500000238418579},{&quot;brightness&quot;:0,&quot;colorType&quot;:1,&quot;foreColorIndex&quot;:5,&quot;pos&quot;:1,&quot;transparency&quot;:1}],&quot;type&quot;:3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700000047683716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2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2199999988079071,&quot;colorType&quot;:1,&quot;foreColorIndex&quot;:5,&quot;pos&quot;:0.009999999776482582,&quot;transparency&quot;:0},{&quot;brightness&quot;:-0.09000000357627869,&quot;colorType&quot;:1,&quot;foreColorIndex&quot;:5,&quot;pos&quot;:0.77999997138977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3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4000000059604645,&quot;colorType&quot;:1,&quot;foreColorIndex&quot;:5,&quot;pos&quot;:0.189999997615814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4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5,&quot;colorType&quot;:1,&quot;foreColorIndex&quot;:5,&quot;pos&quot;:0,&quot;transparency&quot;:0},{&quot;brightness&quot;:0.1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5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-0.25,&quot;colorType&quot;:1,&quot;foreColorIndex&quot;:5,&quot;pos&quot;:0.36000001430511475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6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0.9200000166893005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7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7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-0.25,&quot;colorType&quot;:1,&quot;foreColorIndex&quot;:5,&quot;pos&quot;:0.2800000011920929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8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8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4499999880790710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9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9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6399999856948853,&quot;colorType&quot;:1,&quot;foreColorIndex&quot;:5,&quot;pos&quot;:0,&quot;transparency&quot;:0},{&quot;brightness&quot;:0.23000000417232513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0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0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1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2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.4000000059604645,&quot;colorType&quot;:1,&quot;foreColorIndex&quot;:5,&quot;pos&quot;:0.009999999776482582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3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4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0.800000011920929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i*1_15"/>
  <p:tag name="KSO_WM_TEMPLATE_CATEGORY" val="diagram"/>
  <p:tag name="KSO_WM_TEMPLATE_INDEX" val="20231731"/>
  <p:tag name="KSO_WM_UNIT_LAYERLEVEL" val="1_1"/>
  <p:tag name="KSO_WM_TAG_VERSION" val="3.0"/>
  <p:tag name="KSO_WM_DIAGRAM_GROUP_CODE" val="l1-1"/>
  <p:tag name="KSO_WM_UNIT_TYPE" val="l_i"/>
  <p:tag name="KSO_WM_UNIT_INDEX" val="1_1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.6000000238418579,&quot;colorType&quot;:1,&quot;foreColorIndex&quot;:5,&quot;pos&quot;:0,&quot;transparency&quot;:0},{&quot;brightness&quot;:0,&quot;colorType&quot;:1,&quot;foreColorIndex&quot;:5,&quot;pos&quot;:0.92000001668930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0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1_3"/>
  <p:tag name="KSO_WM_TEMPLATE_CATEGORY" val="diagram"/>
  <p:tag name="KSO_WM_TEMPLATE_INDEX" val="20231731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1_2"/>
  <p:tag name="KSO_WM_TEMPLATE_CATEGORY" val="diagram"/>
  <p:tag name="KSO_WM_TEMPLATE_INDEX" val="2023173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4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731_2*l_h_f*1_1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"/>
  <p:tag name="KSO_WM_UNIT_TEXT_FILL_FORE_SCHEMECOLOR_INDEX" val="1"/>
  <p:tag name="KSO_WM_UNIT_TEXT_FILL_TYPE" val="1"/>
  <p:tag name="KSO_WM_UNIT_USESOURCEFORMAT_APPLY" val="0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731_2*l_h_a*1_1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1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1_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3_3"/>
  <p:tag name="KSO_WM_TEMPLATE_CATEGORY" val="diagram"/>
  <p:tag name="KSO_WM_TEMPLATE_INDEX" val="20231731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3_2"/>
  <p:tag name="KSO_WM_TEMPLATE_CATEGORY" val="diagram"/>
  <p:tag name="KSO_WM_TEMPLATE_INDEX" val="2023173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731_2*l_h_f*1_3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"/>
  <p:tag name="KSO_WM_UNIT_TEXT_FILL_FORE_SCHEMECOLOR_INDEX" val="1"/>
  <p:tag name="KSO_WM_UNIT_TEXT_FILL_TYPE" val="1"/>
  <p:tag name="KSO_WM_UNIT_USESOURCEFORMAT_APPLY" val="0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731_2*l_h_a*1_3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0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3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3_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2_3"/>
  <p:tag name="KSO_WM_TEMPLATE_CATEGORY" val="diagram"/>
  <p:tag name="KSO_WM_TEMPLATE_INDEX" val="20231731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0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2_2"/>
  <p:tag name="KSO_WM_TEMPLATE_CATEGORY" val="diagram"/>
  <p:tag name="KSO_WM_TEMPLATE_INDEX" val="20231731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gradient&quot;:[{&quot;brightness&quot;:-0.25,&quot;colorType&quot;:1,&quot;foreColorIndex&quot;:5,&quot;pos&quot;:0.009999999776482582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0"/>
</p:tagLst>
</file>

<file path=ppt/tags/tag5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731_2*l_h_f*1_2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输入你的项正文"/>
  <p:tag name="KSO_WM_UNIT_TEXT_FILL_FORE_SCHEMECOLOR_INDEX" val="1"/>
  <p:tag name="KSO_WM_UNIT_TEXT_FILL_TYPE" val="1"/>
  <p:tag name="KSO_WM_UNIT_USESOURCEFORMAT_APPLY" val="0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731_2*l_h_a*1_2_1"/>
  <p:tag name="KSO_WM_TEMPLATE_CATEGORY" val="diagram"/>
  <p:tag name="KSO_WM_TEMPLATE_INDEX" val="20231731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项标题"/>
  <p:tag name="KSO_WM_UNIT_TEXT_FILL_FORE_SCHEMECOLOR_INDEX" val="1"/>
  <p:tag name="KSO_WM_UNIT_TEXT_FILL_TYPE" val="1"/>
  <p:tag name="KSO_WM_UNIT_USESOURCEFORMAT_APPLY" val="0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731_2*l_h_i*1_2_1"/>
  <p:tag name="KSO_WM_TEMPLATE_CATEGORY" val="diagram"/>
  <p:tag name="KSO_WM_TEMPLATE_INDEX" val="2023173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TYPE" val="l_h_i"/>
  <p:tag name="KSO_WM_UNIT_INDEX" val="1_2_1"/>
  <p:tag name="KSO_WM_DIAGRAM_MAX_ITEMCNT" val="6"/>
  <p:tag name="KSO_WM_DIAGRAM_MIN_ITEMCNT" val="2"/>
  <p:tag name="KSO_WM_DIAGRAM_VIRTUALLY_FRAME" val="{&quot;height&quot;:392.0190551181102,&quot;left&quot;:76.1,&quot;top&quot;:84.1,&quot;width&quot;:824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0"/>
</p:tagLst>
</file>

<file path=ppt/tags/tag62.xml><?xml version="1.0" encoding="utf-8"?>
<p:tagLst xmlns:p="http://schemas.openxmlformats.org/presentationml/2006/main">
  <p:tag name="KSO_WM_SLIDE_ID" val="diagram20231731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731"/>
  <p:tag name="KSO_WM_SLIDE_TYPE" val="text"/>
  <p:tag name="KSO_WM_SLIDE_SUBTYPE" val="diag"/>
  <p:tag name="KSO_WM_SLIDE_SIZE" val="824.8*283.769"/>
  <p:tag name="KSO_WM_SLIDE_POSITION" val="76.1*192.3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0.xml><?xml version="1.0" encoding="utf-8"?>
<p:tagLst xmlns:p="http://schemas.openxmlformats.org/presentationml/2006/main">
  <p:tag name="TABLE_ENDDRAG_ORIGIN_RECT" val="504*153"/>
  <p:tag name="TABLE_ENDDRAG_RECT" val="373*269*504*153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4.xml><?xml version="1.0" encoding="utf-8"?>
<p:tagLst xmlns:p="http://schemas.openxmlformats.org/presentationml/2006/main">
  <p:tag name="TABLE_ENDDRAG_ORIGIN_RECT" val="497*139"/>
  <p:tag name="TABLE_ENDDRAG_RECT" val="449*89*497*139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7.xml><?xml version="1.0" encoding="utf-8"?>
<p:tagLst xmlns:p="http://schemas.openxmlformats.org/presentationml/2006/main">
  <p:tag name="KSO_WM_DIAGRAM_VIRTUALLY_FRAME" val="{&quot;height&quot;:226.99685039370075,&quot;left&quot;:47.71653543307087,&quot;top&quot;:228.5015748031496,&quot;width&quot;:864.5669291338581}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731_2*a*1"/>
  <p:tag name="KSO_WM_TEMPLATE_CATEGORY" val="diagram"/>
  <p:tag name="KSO_WM_TEMPLATE_INDEX" val="20231731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81.xml><?xml version="1.0" encoding="utf-8"?>
<p:tagLst xmlns:p="http://schemas.openxmlformats.org/presentationml/2006/main">
  <p:tag name="COMMONDATA" val="eyJoZGlkIjoiNmY5NWU4Y2E1ZmQ0MTk4N2E2NWIwYzQ4ZDA2MmNkYTcifQ=="/>
  <p:tag name="resource_record_key" val="{&quot;29&quot;:[50000283,50052708,5005270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41119A01PPB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8">
      <a:majorFont>
        <a:latin typeface="Forte"/>
        <a:ea typeface="华文新魏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3910</Words>
  <Application>WPS 演示</Application>
  <PresentationFormat>宽屏</PresentationFormat>
  <Paragraphs>289</Paragraphs>
  <Slides>21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Calibri</vt:lpstr>
      <vt:lpstr>幼圆</vt:lpstr>
      <vt:lpstr>微软雅黑</vt:lpstr>
      <vt:lpstr>Segoe UI</vt:lpstr>
      <vt:lpstr>方正舒体</vt:lpstr>
      <vt:lpstr>黑体</vt:lpstr>
      <vt:lpstr>OPPOSans H</vt:lpstr>
      <vt:lpstr>华文新魏</vt:lpstr>
      <vt:lpstr>Arial Unicode MS</vt:lpstr>
      <vt:lpstr>Forte</vt:lpstr>
      <vt:lpstr>等线</vt:lpstr>
      <vt:lpstr>等线 Light</vt:lpstr>
      <vt:lpstr>OPPOSans H</vt:lpstr>
      <vt:lpstr>Segoe Print</vt:lpstr>
      <vt:lpstr>ui-sans-serif</vt:lpstr>
      <vt:lpstr>Office 主题​​</vt:lpstr>
      <vt:lpstr>A000120141119A01PPBG</vt:lpstr>
      <vt:lpstr>PowerPoint 演示文稿</vt:lpstr>
      <vt:lpstr>PowerPoint 演示文稿</vt:lpstr>
      <vt:lpstr>PowerPoint 演示文稿</vt:lpstr>
      <vt:lpstr>PowerPoint 演示文稿</vt:lpstr>
      <vt:lpstr>项目概述</vt:lpstr>
      <vt:lpstr>PowerPoint 演示文稿</vt:lpstr>
      <vt:lpstr>模块概述</vt:lpstr>
      <vt:lpstr>智能分页——遍历10页列表</vt:lpstr>
      <vt:lpstr>PowerPoint 演示文稿</vt:lpstr>
      <vt:lpstr>运行结果与数据验证</vt:lpstr>
      <vt:lpstr>PowerPoint 演示文稿</vt:lpstr>
      <vt:lpstr>模块概述</vt:lpstr>
      <vt:lpstr>详情页信息提取</vt:lpstr>
      <vt:lpstr>详情页信息提取</vt:lpstr>
      <vt:lpstr>海报下载（断点续传）</vt:lpstr>
      <vt:lpstr>PowerPoint 演示文稿</vt:lpstr>
      <vt:lpstr>海报下载（断点续传）</vt:lpstr>
      <vt:lpstr>外键关系与数据完整性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flipped</cp:lastModifiedBy>
  <cp:revision>50</cp:revision>
  <dcterms:created xsi:type="dcterms:W3CDTF">2016-07-01T07:52:00Z</dcterms:created>
  <dcterms:modified xsi:type="dcterms:W3CDTF">2026-05-13T04:12:51Z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3BD5E481609442AAB5E68DFD3C77F17E_13</vt:lpwstr>
  </property>
</Properties>
</file>